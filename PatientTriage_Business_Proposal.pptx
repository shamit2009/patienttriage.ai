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26.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 id="2147483713" r:id="rId5"/>
  </p:sldMasterIdLst>
  <p:notesMasterIdLst>
    <p:notesMasterId r:id="rId13"/>
  </p:notesMasterIdLst>
  <p:sldIdLst>
    <p:sldId id="820" r:id="rId6"/>
    <p:sldId id="1906872571" r:id="rId20"/>
    <p:sldId id="1906872572" r:id="rId21"/>
    <p:sldId id="1906872573" r:id="rId22"/>
    <p:sldId id="1906872574" r:id="rId23"/>
    <p:sldId id="1906872575" r:id="rId24"/>
    <p:sldId id="1906872576" r:id="rId25"/>
    <p:sldId id="1906872577" r:id="rId26"/>
    <p:sldId id="1906872578" r:id="rId27"/>
    <p:sldId id="1906872579" r:id="rId28"/>
    <p:sldId id="1906872580" r:id="rId29"/>
    <p:sldId id="1906872581" r:id="rId30"/>
    <p:sldId id="1906872582" r:id="rId31"/>
    <p:sldId id="1906872583" r:id="rId32"/>
    <p:sldId id="1906872584" r:id="rId33"/>
    <p:sldId id="1906872585" r:id="rId34"/>
    <p:sldId id="1906872586" r:id="rId35"/>
    <p:sldId id="1906872587" r:id="rId36"/>
    <p:sldId id="1906872588" r:id="rId37"/>
    <p:sldId id="1906872589" r:id="rId38"/>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5E361-6728-4564-925F-CDEB010D9221}" v="1" dt="2026-08-12T11:52:41.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12" Type="http://schemas.openxmlformats.org/officeDocument/2006/relationships/slide" Target="slides/slide2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sldChg chg="del">
        <pc:chgData name="Gupta, Sumit" userId="1897bf9b-0dd3-4194-b659-65bd26db6033" providerId="ADAL" clId="{5772E9CC-A2D7-4A18-9F3D-98CD1ADE6210}" dt="2026-08-12T11:52:43.731" v="19" actId="47"/>
        <pc:sldMkLst>
          <pc:docMk/>
          <pc:sldMk cId="1508494297" sldId="945"/>
        </pc:sldMkLst>
      </pc:sldChg>
      <pc:sldChg chg="add">
        <pc:chgData name="Gupta, Sumit" userId="1897bf9b-0dd3-4194-b659-65bd26db6033" providerId="ADAL" clId="{5772E9CC-A2D7-4A18-9F3D-98CD1ADE6210}" dt="2026-07-24T04:48:05.146" v="0"/>
        <pc:sldMkLst>
          <pc:docMk/>
          <pc:sldMk cId="2959471642" sldId="2857"/>
        </pc:sldMkLst>
      </pc:sldChg>
      <pc:sldChg chg="add">
        <pc:chgData name="Gupta, Sumit" userId="1897bf9b-0dd3-4194-b659-65bd26db6033" providerId="ADAL" clId="{5772E9CC-A2D7-4A18-9F3D-98CD1ADE6210}" dt="2026-07-24T04:48:05.146" v="0"/>
        <pc:sldMkLst>
          <pc:docMk/>
          <pc:sldMk cId="280955698" sldId="2870"/>
        </pc:sldMkLst>
      </pc:sldChg>
      <pc:sldChg chg="add">
        <pc:chgData name="Gupta, Sumit" userId="1897bf9b-0dd3-4194-b659-65bd26db6033" providerId="ADAL" clId="{5772E9CC-A2D7-4A18-9F3D-98CD1ADE6210}" dt="2026-07-24T04:48:05.146" v="0"/>
        <pc:sldMkLst>
          <pc:docMk/>
          <pc:sldMk cId="969716135" sldId="1906872563"/>
        </pc:sldMkLst>
      </pc:sldChg>
      <pc:sldChg chg="delSp modSp add mod">
        <pc:chgData name="Gupta, Sumit" userId="1897bf9b-0dd3-4194-b659-65bd26db6033" providerId="ADAL" clId="{5772E9CC-A2D7-4A18-9F3D-98CD1ADE6210}" dt="2026-07-24T04:48:25.970" v="2" actId="20577"/>
        <pc:sldMkLst>
          <pc:docMk/>
          <pc:sldMk cId="2205980423" sldId="1906872569"/>
        </pc:sldMkLst>
        <pc:spChg chg="mod">
          <ac:chgData name="Gupta, Sumit" userId="1897bf9b-0dd3-4194-b659-65bd26db6033" providerId="ADAL" clId="{5772E9CC-A2D7-4A18-9F3D-98CD1ADE6210}" dt="2026-07-24T04:48:25.970" v="2" actId="20577"/>
          <ac:spMkLst>
            <pc:docMk/>
            <pc:sldMk cId="2205980423" sldId="1906872569"/>
            <ac:spMk id="4" creationId="{00000000-0000-0000-0000-000000000000}"/>
          </ac:spMkLst>
        </pc:spChg>
      </pc:sldChg>
      <pc:sldChg chg="modSp add mod">
        <pc:chgData name="Gupta, Sumit" userId="1897bf9b-0dd3-4194-b659-65bd26db6033" providerId="ADAL" clId="{5772E9CC-A2D7-4A18-9F3D-98CD1ADE6210}" dt="2026-07-24T04:48:43.369" v="7" actId="20577"/>
        <pc:sldMkLst>
          <pc:docMk/>
          <pc:sldMk cId="3845603560" sldId="1906872570"/>
        </pc:sldMkLst>
        <pc:spChg chg="mod">
          <ac:chgData name="Gupta, Sumit" userId="1897bf9b-0dd3-4194-b659-65bd26db6033" providerId="ADAL" clId="{5772E9CC-A2D7-4A18-9F3D-98CD1ADE6210}" dt="2026-07-24T04:48:43.369" v="7" actId="20577"/>
          <ac:spMkLst>
            <pc:docMk/>
            <pc:sldMk cId="3845603560" sldId="1906872570"/>
            <ac:spMk id="4" creationId="{00000000-0000-0000-0000-000000000000}"/>
          </ac:spMkLst>
        </pc:spChg>
      </pc:sldChg>
      <pc:sldMasterChg chg="delSldLayout modSldLayout">
        <pc:chgData name="Gupta, Sumit" userId="1897bf9b-0dd3-4194-b659-65bd26db6033" providerId="ADAL" clId="{5772E9CC-A2D7-4A18-9F3D-98CD1ADE6210}" dt="2026-07-24T04:49:43.724" v="17"/>
        <pc:sldMasterMkLst>
          <pc:docMk/>
          <pc:sldMasterMk cId="3154538439" sldId="2147483660"/>
        </pc:sldMasterMkLst>
        <pc:sldLayoutChg chg="modSp">
          <pc:chgData name="Gupta, Sumit" userId="1897bf9b-0dd3-4194-b659-65bd26db6033" providerId="ADAL" clId="{5772E9CC-A2D7-4A18-9F3D-98CD1ADE6210}" dt="2026-07-24T04:49:43.724" v="17"/>
          <pc:sldLayoutMkLst>
            <pc:docMk/>
            <pc:sldMasterMk cId="3154538439" sldId="2147483660"/>
            <pc:sldLayoutMk cId="2368417819" sldId="2147483662"/>
          </pc:sldLayoutMkLst>
          <pc:spChg chg="mod">
            <ac:chgData name="Gupta, Sumit" userId="1897bf9b-0dd3-4194-b659-65bd26db6033" providerId="ADAL" clId="{5772E9CC-A2D7-4A18-9F3D-98CD1ADE6210}" dt="2026-07-24T04:49:43.724" v="17"/>
            <ac:spMkLst>
              <pc:docMk/>
              <pc:sldMasterMk cId="3154538439" sldId="2147483660"/>
              <pc:sldLayoutMk cId="2368417819" sldId="2147483662"/>
              <ac:spMk id="3" creationId="{1BFF566D-EEFC-0454-54B0-66CBAB8DA700}"/>
            </ac:spMkLst>
          </pc:spChg>
        </pc:sldLayoutChg>
        <pc:sldLayoutChg chg="addSp delSp modSp mod">
          <pc:chgData name="Gupta, Sumit" userId="1897bf9b-0dd3-4194-b659-65bd26db6033" providerId="ADAL" clId="{5772E9CC-A2D7-4A18-9F3D-98CD1ADE6210}" dt="2026-07-24T04:49:43.724" v="17"/>
          <pc:sldLayoutMkLst>
            <pc:docMk/>
            <pc:sldMasterMk cId="3154538439" sldId="2147483660"/>
            <pc:sldLayoutMk cId="726607555" sldId="2147483673"/>
          </pc:sldLayoutMkLst>
          <pc:spChg chg="mod">
            <ac:chgData name="Gupta, Sumit" userId="1897bf9b-0dd3-4194-b659-65bd26db6033" providerId="ADAL" clId="{5772E9CC-A2D7-4A18-9F3D-98CD1ADE6210}" dt="2026-07-24T04:49:43.724" v="17"/>
            <ac:spMkLst>
              <pc:docMk/>
              <pc:sldMasterMk cId="3154538439" sldId="2147483660"/>
              <pc:sldLayoutMk cId="726607555" sldId="2147483673"/>
              <ac:spMk id="2" creationId="{8F090878-FDCB-E32E-7E4D-4A1D113FA508}"/>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Logistic Regression</c:v>
                </c:pt>
              </c:strCache>
            </c:strRef>
          </c:tx>
          <c:spPr>
            <a:solidFill>
              <a:srgbClr val="C9A6E8"/>
            </a:solidFill>
          </c:spPr>
          <c:cat>
            <c:strRef>
              <c:f>Sheet1!$A$2:$A$4</c:f>
              <c:strCache>
                <c:ptCount val="3"/>
                <c:pt idx="0">
                  <c:v>Recall (critical)</c:v>
                </c:pt>
                <c:pt idx="1">
                  <c:v>Precision</c:v>
                </c:pt>
                <c:pt idx="2">
                  <c:v>AUPRC</c:v>
                </c:pt>
              </c:strCache>
            </c:strRef>
          </c:cat>
          <c:val>
            <c:numRef>
              <c:f>Sheet1!$B$2:$B$4</c:f>
              <c:numCache>
                <c:formatCode>General</c:formatCode>
                <c:ptCount val="3"/>
                <c:pt idx="0">
                  <c:v>0.831</c:v>
                </c:pt>
                <c:pt idx="1">
                  <c:v>0.703</c:v>
                </c:pt>
                <c:pt idx="2">
                  <c:v>0.854</c:v>
                </c:pt>
              </c:numCache>
            </c:numRef>
          </c:val>
        </c:ser>
        <c:ser>
          <c:idx val="1"/>
          <c:order val="1"/>
          <c:tx>
            <c:strRef>
              <c:f>Sheet1!$C$1</c:f>
              <c:strCache>
                <c:ptCount val="1"/>
                <c:pt idx="0">
                  <c:v>Random Forest</c:v>
                </c:pt>
              </c:strCache>
            </c:strRef>
          </c:tx>
          <c:spPr>
            <a:solidFill>
              <a:srgbClr val="9B6BD6"/>
            </a:solidFill>
          </c:spPr>
          <c:cat>
            <c:strRef>
              <c:f>Sheet1!$A$2:$A$4</c:f>
              <c:strCache>
                <c:ptCount val="3"/>
                <c:pt idx="0">
                  <c:v>Recall (critical)</c:v>
                </c:pt>
                <c:pt idx="1">
                  <c:v>Precision</c:v>
                </c:pt>
                <c:pt idx="2">
                  <c:v>AUPRC</c:v>
                </c:pt>
              </c:strCache>
            </c:strRef>
          </c:cat>
          <c:val>
            <c:numRef>
              <c:f>Sheet1!$C$2:$C$4</c:f>
              <c:numCache>
                <c:formatCode>General</c:formatCode>
                <c:ptCount val="3"/>
                <c:pt idx="0">
                  <c:v>0.788</c:v>
                </c:pt>
                <c:pt idx="1">
                  <c:v>0.725</c:v>
                </c:pt>
                <c:pt idx="2">
                  <c:v>0.818</c:v>
                </c:pt>
              </c:numCache>
            </c:numRef>
          </c:val>
        </c:ser>
        <c:ser>
          <c:idx val="2"/>
          <c:order val="2"/>
          <c:tx>
            <c:strRef>
              <c:f>Sheet1!$D$1</c:f>
              <c:strCache>
                <c:ptCount val="1"/>
                <c:pt idx="0">
                  <c:v>XGBoost (6x weight)</c:v>
                </c:pt>
              </c:strCache>
            </c:strRef>
          </c:tx>
          <c:spPr>
            <a:solidFill>
              <a:srgbClr val="A100FF"/>
            </a:solidFill>
          </c:spPr>
          <c:cat>
            <c:strRef>
              <c:f>Sheet1!$A$2:$A$4</c:f>
              <c:strCache>
                <c:ptCount val="3"/>
                <c:pt idx="0">
                  <c:v>Recall (critical)</c:v>
                </c:pt>
                <c:pt idx="1">
                  <c:v>Precision</c:v>
                </c:pt>
                <c:pt idx="2">
                  <c:v>AUPRC</c:v>
                </c:pt>
              </c:strCache>
            </c:strRef>
          </c:cat>
          <c:val>
            <c:numRef>
              <c:f>Sheet1!$D$2:$D$4</c:f>
              <c:numCache>
                <c:formatCode>General</c:formatCode>
                <c:ptCount val="3"/>
                <c:pt idx="0">
                  <c:v>0.907</c:v>
                </c:pt>
                <c:pt idx="1">
                  <c:v>0.612</c:v>
                </c:pt>
                <c:pt idx="2">
                  <c:v>0.849</c:v>
                </c:pt>
              </c:numCache>
            </c:numRef>
          </c:val>
        </c:ser>
        <c:dLbls>
          <c:numFmt formatCode="0.00" sourceLinked="0"/>
          <c:txPr>
            <a:bodyPr/>
            <a:lstStyle/>
            <a:p>
              <a:pPr>
                <a:defRPr sz="900">
                  <a:solidFill>
                    <a:srgbClr val="1C1C22"/>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C1C22"/>
                </a:solidFill>
              </a:defRPr>
            </a:pPr>
          </a:p>
        </c:txPr>
        <c:crossAx val="-2113994440"/>
        <c:crosses val="autoZero"/>
        <c:auto val="1"/>
        <c:lblAlgn val="ctr"/>
        <c:lblOffset val="100"/>
        <c:noMultiLvlLbl val="0"/>
      </c:catAx>
      <c:valAx>
        <c:axId val="-2113994440"/>
        <c:scaling>
          <c:max val="1.0"/>
          <c:min val="0.0"/>
        </c:scaling>
        <c:delete val="0"/>
        <c:axPos val="l"/>
        <c:majorGridlines/>
        <c:majorTickMark val="out"/>
        <c:minorTickMark val="none"/>
        <c:tickLblPos val="nextTo"/>
        <c:spPr>
          <a:ln>
            <a:solidFill>
              <a:srgbClr val="E3D2F7"/>
            </a:solidFill>
          </a:ln>
        </c:spPr>
        <c:txPr>
          <a:bodyPr/>
          <a:lstStyle/>
          <a:p>
            <a:pPr>
              <a:defRPr sz="900">
                <a:solidFill>
                  <a:srgbClr val="5F5F70"/>
                </a:solidFill>
              </a:defRPr>
            </a:pPr>
          </a:p>
        </c:txPr>
        <c:crossAx val="-2068027336"/>
        <c:crosses val="autoZero"/>
      </c:valAx>
    </c:plotArea>
    <c:legend>
      <c:legendPos val="b"/>
      <c:overlay val="0"/>
      <c:txPr>
        <a:bodyPr/>
        <a:lstStyle/>
        <a:p>
          <a:pPr>
            <a:defRPr sz="1000">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Clinical decision support (global)</c:v>
                </c:pt>
              </c:strCache>
            </c:strRef>
          </c:tx>
          <c:spPr>
            <a:solidFill>
              <a:srgbClr val="C9A6E8"/>
            </a:solidFill>
          </c:spPr>
          <c:cat>
            <c:strRef>
              <c:f>Sheet1!$A$2:$A$3</c:f>
              <c:strCache>
                <c:ptCount val="2"/>
                <c:pt idx="0">
                  <c:v>2025</c:v>
                </c:pt>
                <c:pt idx="1">
                  <c:v>2030</c:v>
                </c:pt>
              </c:strCache>
            </c:strRef>
          </c:cat>
          <c:val>
            <c:numRef>
              <c:f>Sheet1!$B$2:$B$3</c:f>
              <c:numCache>
                <c:formatCode>General</c:formatCode>
                <c:ptCount val="2"/>
                <c:pt idx="0">
                  <c:v>2.46</c:v>
                </c:pt>
                <c:pt idx="1">
                  <c:v>3.89</c:v>
                </c:pt>
              </c:numCache>
            </c:numRef>
          </c:val>
        </c:ser>
        <c:ser>
          <c:idx val="1"/>
          <c:order val="1"/>
          <c:tx>
            <c:strRef>
              <c:f>Sheet1!$C$1</c:f>
              <c:strCache>
                <c:ptCount val="1"/>
                <c:pt idx="0">
                  <c:v>AI-powered CDS subsegment</c:v>
                </c:pt>
              </c:strCache>
            </c:strRef>
          </c:tx>
          <c:spPr>
            <a:solidFill>
              <a:srgbClr val="A100FF"/>
            </a:solidFill>
          </c:spPr>
          <c:cat>
            <c:strRef>
              <c:f>Sheet1!$A$2:$A$3</c:f>
              <c:strCache>
                <c:ptCount val="2"/>
                <c:pt idx="0">
                  <c:v>2025</c:v>
                </c:pt>
                <c:pt idx="1">
                  <c:v>2030</c:v>
                </c:pt>
              </c:strCache>
            </c:strRef>
          </c:cat>
          <c:val>
            <c:numRef>
              <c:f>Sheet1!$C$2:$C$3</c:f>
              <c:numCache>
                <c:formatCode>General</c:formatCode>
                <c:ptCount val="2"/>
                <c:pt idx="0">
                  <c:v>0.87</c:v>
                </c:pt>
                <c:pt idx="1">
                  <c:v>1.79</c:v>
                </c:pt>
              </c:numCache>
            </c:numRef>
          </c:val>
        </c:ser>
        <c:dLbls>
          <c:numFmt formatCode="&quot;$&quot;0.00&quot;B&quot;" sourceLinked="0"/>
          <c:txPr>
            <a:bodyPr/>
            <a:lstStyle/>
            <a:p>
              <a:pPr>
                <a:defRPr sz="900">
                  <a:solidFill>
                    <a:srgbClr val="1C1C22"/>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1C1C22"/>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E3D2F7"/>
            </a:solidFill>
          </a:ln>
        </c:spPr>
        <c:txPr>
          <a:bodyPr/>
          <a:lstStyle/>
          <a:p>
            <a:pPr>
              <a:defRPr sz="900">
                <a:solidFill>
                  <a:srgbClr val="5F5F70"/>
                </a:solidFill>
              </a:defRPr>
            </a:pPr>
          </a:p>
        </c:txPr>
        <c:crossAx val="-2068027336"/>
        <c:crosses val="autoZero"/>
      </c:valAx>
    </c:plotArea>
    <c:legend>
      <c:legendPos val="b"/>
      <c:overlay val="0"/>
      <c:txPr>
        <a:bodyPr/>
        <a:lstStyle/>
        <a:p>
          <a:pPr>
            <a:defRPr sz="95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jpe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5.emf"/><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4.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7.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8/12/2026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12-08-2026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12-08-2026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12-08-2026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theme" Target="../theme/theme2.xml"/><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image" Target="../media/image11.png"/><Relationship Id="rId26" Type="http://schemas.openxmlformats.org/officeDocument/2006/relationships/image" Target="../media/image12.png"/><Relationship Id="rId27" Type="http://schemas.openxmlformats.org/officeDocument/2006/relationships/image" Target="../media/image13.png"/><Relationship Id="rId28"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Relationship Id="rId16" Type="http://schemas.openxmlformats.org/officeDocument/2006/relationships/slideLayout" Target="../slideLayouts/slideLayout61.xml"/><Relationship Id="rId17" Type="http://schemas.openxmlformats.org/officeDocument/2006/relationships/slideLayout" Target="../slideLayouts/slideLayout62.xml"/><Relationship Id="rId18" Type="http://schemas.openxmlformats.org/officeDocument/2006/relationships/slideLayout" Target="../slideLayouts/slideLayout63.xml"/><Relationship Id="rId19" Type="http://schemas.openxmlformats.org/officeDocument/2006/relationships/slideLayout" Target="../slideLayouts/slideLayout64.xml"/><Relationship Id="rId20" Type="http://schemas.openxmlformats.org/officeDocument/2006/relationships/slideLayout" Target="../slideLayouts/slideLayout65.xml"/><Relationship Id="rId21" Type="http://schemas.openxmlformats.org/officeDocument/2006/relationships/slideLayout" Target="../slideLayouts/slideLayout66.xml"/><Relationship Id="rId22" Type="http://schemas.openxmlformats.org/officeDocument/2006/relationships/slideLayout" Target="../slideLayouts/slideLayout67.xml"/><Relationship Id="rId23" Type="http://schemas.openxmlformats.org/officeDocument/2006/relationships/slideLayout" Target="../slideLayouts/slideLayout68.xml"/><Relationship Id="rId24" Type="http://schemas.openxmlformats.org/officeDocument/2006/relationships/slideLayout" Target="../slideLayouts/slideLayout69.xml"/><Relationship Id="rId25" Type="http://schemas.openxmlformats.org/officeDocument/2006/relationships/slideLayout" Target="../slideLayouts/slideLayout70.xml"/><Relationship Id="rId26" Type="http://schemas.openxmlformats.org/officeDocument/2006/relationships/slideLayout" Target="../slideLayouts/slideLayout71.xml"/><Relationship Id="rId27" Type="http://schemas.openxmlformats.org/officeDocument/2006/relationships/slideLayout" Target="../slideLayouts/slideLayout72.xml"/><Relationship Id="rId28" Type="http://schemas.openxmlformats.org/officeDocument/2006/relationships/slideLayout" Target="../slideLayouts/slideLayout73.xml"/><Relationship Id="rId29" Type="http://schemas.openxmlformats.org/officeDocument/2006/relationships/slideLayout" Target="../slideLayouts/slideLayout74.xml"/><Relationship Id="rId30" Type="http://schemas.openxmlformats.org/officeDocument/2006/relationships/slideLayout" Target="../slideLayouts/slideLayout75.xml"/><Relationship Id="rId31" Type="http://schemas.openxmlformats.org/officeDocument/2006/relationships/slideLayout" Target="../slideLayouts/slideLayout76.xml"/><Relationship Id="rId32" Type="http://schemas.openxmlformats.org/officeDocument/2006/relationships/slideLayout" Target="../slideLayouts/slideLayout77.xml"/><Relationship Id="rId33" Type="http://schemas.openxmlformats.org/officeDocument/2006/relationships/slideLayout" Target="../slideLayouts/slideLayout78.xml"/><Relationship Id="rId34" Type="http://schemas.openxmlformats.org/officeDocument/2006/relationships/slideLayout" Target="../slideLayouts/slideLayout79.xml"/><Relationship Id="rId35" Type="http://schemas.openxmlformats.org/officeDocument/2006/relationships/slideLayout" Target="../slideLayouts/slideLayout80.xml"/><Relationship Id="rId36" Type="http://schemas.openxmlformats.org/officeDocument/2006/relationships/slideLayout" Target="../slideLayouts/slideLayout81.xml"/><Relationship Id="rId37" Type="http://schemas.openxmlformats.org/officeDocument/2006/relationships/slideLayout" Target="../slideLayouts/slideLayout82.xml"/><Relationship Id="rId38" Type="http://schemas.openxmlformats.org/officeDocument/2006/relationships/slideLayout" Target="../slideLayouts/slideLayout83.xml"/><Relationship Id="rId39" Type="http://schemas.openxmlformats.org/officeDocument/2006/relationships/slideLayout" Target="../slideLayouts/slideLayout84.xml"/><Relationship Id="rId40" Type="http://schemas.openxmlformats.org/officeDocument/2006/relationships/slideLayout" Target="../slideLayouts/slideLayout85.xml"/><Relationship Id="rId41" Type="http://schemas.openxmlformats.org/officeDocument/2006/relationships/slideLayout" Target="../slideLayouts/slideLayout86.xml"/><Relationship Id="rId42" Type="http://schemas.openxmlformats.org/officeDocument/2006/relationships/slideLayout" Target="../slideLayouts/slideLayout87.xml"/><Relationship Id="rId43" Type="http://schemas.openxmlformats.org/officeDocument/2006/relationships/slideLayout" Target="../slideLayouts/slideLayout88.xml"/><Relationship Id="rId44" Type="http://schemas.openxmlformats.org/officeDocument/2006/relationships/slideLayout" Target="../slideLayouts/slideLayout89.xml"/><Relationship Id="rId45" Type="http://schemas.openxmlformats.org/officeDocument/2006/relationships/slideLayout" Target="../slideLayouts/slideLayout90.xml"/><Relationship Id="rId46" Type="http://schemas.openxmlformats.org/officeDocument/2006/relationships/slideLayout" Target="../slideLayouts/slideLayout91.xml"/><Relationship Id="rId47" Type="http://schemas.openxmlformats.org/officeDocument/2006/relationships/slideLayout" Target="../slideLayouts/slideLayout92.xml"/><Relationship Id="rId48" Type="http://schemas.openxmlformats.org/officeDocument/2006/relationships/slideLayout" Target="../slideLayouts/slideLayout93.xml"/><Relationship Id="rId49" Type="http://schemas.openxmlformats.org/officeDocument/2006/relationships/slideLayout" Target="../slideLayouts/slideLayout94.xml"/><Relationship Id="rId50" Type="http://schemas.openxmlformats.org/officeDocument/2006/relationships/slideLayout" Target="../slideLayouts/slideLayout95.xml"/><Relationship Id="rId51" Type="http://schemas.openxmlformats.org/officeDocument/2006/relationships/slideLayout" Target="../slideLayouts/slideLayout96.xml"/><Relationship Id="rId52" Type="http://schemas.openxmlformats.org/officeDocument/2006/relationships/slideLayout" Target="../slideLayouts/slideLayout97.xml"/><Relationship Id="rId53" Type="http://schemas.openxmlformats.org/officeDocument/2006/relationships/slideLayout" Target="../slideLayouts/slideLayout98.xml"/><Relationship Id="rId54" Type="http://schemas.openxmlformats.org/officeDocument/2006/relationships/slideLayout" Target="../slideLayouts/slideLayout99.xml"/><Relationship Id="rId55" Type="http://schemas.openxmlformats.org/officeDocument/2006/relationships/slideLayout" Target="../slideLayouts/slideLayout100.xml"/><Relationship Id="rId56" Type="http://schemas.openxmlformats.org/officeDocument/2006/relationships/slideLayout" Target="../slideLayouts/slideLayout101.xml"/><Relationship Id="rId57" Type="http://schemas.openxmlformats.org/officeDocument/2006/relationships/slideLayout" Target="../slideLayouts/slideLayout102.xml"/><Relationship Id="rId5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12-08-2026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 Id="rId3" Type="http://schemas.openxmlformats.org/officeDocument/2006/relationships/image" Target="../media/image30.jpg"/><Relationship Id="rId4"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PatientTriage.ai</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
        <p:nvSpPr>
          <p:cNvPr id="21" name="TextBox 20"/>
          <p:cNvSpPr txBox="1"/>
          <p:nvPr/>
        </p:nvSpPr>
        <p:spPr>
          <a:xfrm>
            <a:off x="2990088" y="4956048"/>
            <a:ext cx="6208776" cy="365760"/>
          </a:xfrm>
          <a:prstGeom prst="rect">
            <a:avLst/>
          </a:prstGeom>
          <a:noFill/>
        </p:spPr>
        <p:txBody>
          <a:bodyPr wrap="square" lIns="0" rIns="0" tIns="0" bIns="0" anchor="t">
            <a:spAutoFit/>
          </a:bodyPr>
          <a:lstStyle/>
          <a:p>
            <a:pPr algn="ctr">
              <a:lnSpc>
                <a:spcPct val="112000"/>
              </a:lnSpc>
              <a:spcAft>
                <a:spcPts val="0"/>
              </a:spcAft>
            </a:pPr>
            <a:r>
              <a:rPr sz="1400" b="1">
                <a:solidFill>
                  <a:srgbClr val="FFFFFF"/>
                </a:solidFill>
                <a:latin typeface="Arial"/>
              </a:rPr>
              <a:t>Safety-first decision support for emergency department triage</a:t>
            </a:r>
          </a:p>
        </p:txBody>
      </p:sp>
      <p:sp>
        <p:nvSpPr>
          <p:cNvPr id="22" name="TextBox 21"/>
          <p:cNvSpPr txBox="1"/>
          <p:nvPr/>
        </p:nvSpPr>
        <p:spPr>
          <a:xfrm>
            <a:off x="365760" y="274320"/>
            <a:ext cx="3657600" cy="274320"/>
          </a:xfrm>
          <a:prstGeom prst="rect">
            <a:avLst/>
          </a:prstGeom>
          <a:noFill/>
        </p:spPr>
        <p:txBody>
          <a:bodyPr wrap="square" lIns="0" rIns="0" tIns="0" bIns="0" anchor="t">
            <a:spAutoFit/>
          </a:bodyPr>
          <a:lstStyle/>
          <a:p>
            <a:pPr algn="l">
              <a:lnSpc>
                <a:spcPct val="112000"/>
              </a:lnSpc>
              <a:spcAft>
                <a:spcPts val="0"/>
              </a:spcAft>
            </a:pPr>
            <a:r>
              <a:rPr sz="1100" b="1">
                <a:solidFill>
                  <a:srgbClr val="FFFFFF"/>
                </a:solidFill>
                <a:latin typeface="Arial"/>
              </a:rPr>
              <a:t>Detailed Business Proposal</a:t>
            </a:r>
          </a:p>
        </p:txBody>
      </p:sp>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The problem: under load, triage becomes a guess</a:t>
            </a:r>
            <a:endParaRPr lang="en-IN" sz="2000"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65760" y="1115568"/>
            <a:ext cx="5989320" cy="2194560"/>
          </a:xfrm>
          <a:prstGeom prst="rect">
            <a:avLst/>
          </a:prstGeom>
          <a:noFill/>
        </p:spPr>
        <p:txBody>
          <a:bodyPr wrap="square" lIns="0" rIns="0" tIns="0" bIns="0" anchor="t">
            <a:spAutoFit/>
          </a:bodyPr>
          <a:lstStyle/>
          <a:p>
            <a:pPr algn="l">
              <a:lnSpc>
                <a:spcPct val="112000"/>
              </a:lnSpc>
              <a:spcAft>
                <a:spcPts val="1200"/>
              </a:spcAft>
            </a:pPr>
            <a:r>
              <a:rPr sz="1450" b="0">
                <a:solidFill>
                  <a:srgbClr val="1C1C22"/>
                </a:solidFill>
                <a:latin typeface="Arial"/>
              </a:rPr>
              <a:t>Emergency department triage compresses a life-or-death ranking decision into 60 to 90 seconds. One nurse, incomplete data, a filling waiting room, and no instrumentation on the decision itself.</a:t>
            </a:r>
          </a:p>
          <a:p>
            <a:pPr algn="l">
              <a:lnSpc>
                <a:spcPct val="112000"/>
              </a:lnSpc>
              <a:spcAft>
                <a:spcPts val="1200"/>
              </a:spcAft>
            </a:pPr>
            <a:r>
              <a:rPr sz="1300" b="0">
                <a:solidFill>
                  <a:srgbClr val="5F5F70"/>
                </a:solidFill>
                <a:latin typeface="Arial"/>
              </a:rPr>
              <a:t>It is the highest-leverage decision in the department and the least measured one. When volume doubles, the time available to make it halves, but the consequence of getting it wrong does not.</a:t>
            </a:r>
          </a:p>
        </p:txBody>
      </p:sp>
      <p:sp>
        <p:nvSpPr>
          <p:cNvPr id="6" name="Rounded Rectangle 5"/>
          <p:cNvSpPr/>
          <p:nvPr/>
        </p:nvSpPr>
        <p:spPr>
          <a:xfrm>
            <a:off x="365760" y="3520440"/>
            <a:ext cx="5989320" cy="123444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1792" y="3703320"/>
            <a:ext cx="5486400" cy="914400"/>
          </a:xfrm>
          <a:prstGeom prst="rect">
            <a:avLst/>
          </a:prstGeom>
          <a:noFill/>
        </p:spPr>
        <p:txBody>
          <a:bodyPr wrap="square" lIns="0" rIns="0" tIns="0" bIns="0" anchor="t">
            <a:spAutoFit/>
          </a:bodyPr>
          <a:lstStyle/>
          <a:p>
            <a:pPr algn="l">
              <a:lnSpc>
                <a:spcPct val="112000"/>
              </a:lnSpc>
              <a:spcAft>
                <a:spcPts val="500"/>
              </a:spcAft>
            </a:pPr>
            <a:r>
              <a:rPr sz="1300" b="1">
                <a:solidFill>
                  <a:srgbClr val="6A00A8"/>
                </a:solidFill>
                <a:latin typeface="Arial"/>
              </a:rPr>
              <a:t>The two errors are not symmetric</a:t>
            </a:r>
          </a:p>
          <a:p>
            <a:pPr algn="l">
              <a:lnSpc>
                <a:spcPct val="112000"/>
              </a:lnSpc>
              <a:spcAft>
                <a:spcPts val="0"/>
              </a:spcAft>
            </a:pPr>
            <a:r>
              <a:rPr sz="1250" b="0">
                <a:solidFill>
                  <a:srgbClr val="1C1C22"/>
                </a:solidFill>
                <a:latin typeface="Arial"/>
              </a:rPr>
              <a:t>Over-triage consumes a bed. Under-triage costs a life. A system tuned for overall accuracy will happily trade the second for the first.</a:t>
            </a:r>
          </a:p>
        </p:txBody>
      </p:sp>
      <p:sp>
        <p:nvSpPr>
          <p:cNvPr id="8" name="Rounded Rectangle 7"/>
          <p:cNvSpPr/>
          <p:nvPr/>
        </p:nvSpPr>
        <p:spPr>
          <a:xfrm>
            <a:off x="6720840" y="1115568"/>
            <a:ext cx="4928616" cy="14173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67728" y="1261872"/>
            <a:ext cx="1691640" cy="685800"/>
          </a:xfrm>
          <a:prstGeom prst="rect">
            <a:avLst/>
          </a:prstGeom>
          <a:noFill/>
        </p:spPr>
        <p:txBody>
          <a:bodyPr wrap="square" lIns="0" rIns="0" tIns="0" bIns="0" anchor="t">
            <a:spAutoFit/>
          </a:bodyPr>
          <a:lstStyle/>
          <a:p>
            <a:pPr algn="l">
              <a:lnSpc>
                <a:spcPct val="112000"/>
              </a:lnSpc>
              <a:spcAft>
                <a:spcPts val="0"/>
              </a:spcAft>
            </a:pPr>
            <a:r>
              <a:rPr sz="3400" b="1">
                <a:solidFill>
                  <a:srgbClr val="B00020"/>
                </a:solidFill>
                <a:latin typeface="Arial"/>
              </a:rPr>
              <a:t>3.3%</a:t>
            </a:r>
          </a:p>
        </p:txBody>
      </p:sp>
      <p:sp>
        <p:nvSpPr>
          <p:cNvPr id="10" name="TextBox 9"/>
          <p:cNvSpPr txBox="1"/>
          <p:nvPr/>
        </p:nvSpPr>
        <p:spPr>
          <a:xfrm>
            <a:off x="8549640" y="1298448"/>
            <a:ext cx="2880360" cy="10515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of ED encounters under-triaged across 5.3M visits at 21 US emergency departments</a:t>
            </a:r>
          </a:p>
        </p:txBody>
      </p:sp>
      <p:sp>
        <p:nvSpPr>
          <p:cNvPr id="11" name="Rounded Rectangle 10"/>
          <p:cNvSpPr/>
          <p:nvPr/>
        </p:nvSpPr>
        <p:spPr>
          <a:xfrm>
            <a:off x="6720840" y="2688336"/>
            <a:ext cx="4928616" cy="14173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67728" y="2834640"/>
            <a:ext cx="1691640" cy="685800"/>
          </a:xfrm>
          <a:prstGeom prst="rect">
            <a:avLst/>
          </a:prstGeom>
          <a:noFill/>
        </p:spPr>
        <p:txBody>
          <a:bodyPr wrap="square" lIns="0" rIns="0" tIns="0" bIns="0" anchor="t">
            <a:spAutoFit/>
          </a:bodyPr>
          <a:lstStyle/>
          <a:p>
            <a:pPr algn="l">
              <a:lnSpc>
                <a:spcPct val="112000"/>
              </a:lnSpc>
              <a:spcAft>
                <a:spcPts val="0"/>
              </a:spcAft>
            </a:pPr>
            <a:r>
              <a:rPr sz="3400" b="1">
                <a:solidFill>
                  <a:srgbClr val="B45309"/>
                </a:solidFill>
                <a:latin typeface="Arial"/>
              </a:rPr>
              <a:t>28.9%</a:t>
            </a:r>
          </a:p>
        </p:txBody>
      </p:sp>
      <p:sp>
        <p:nvSpPr>
          <p:cNvPr id="13" name="TextBox 12"/>
          <p:cNvSpPr txBox="1"/>
          <p:nvPr/>
        </p:nvSpPr>
        <p:spPr>
          <a:xfrm>
            <a:off x="8549640" y="2871216"/>
            <a:ext cx="2880360" cy="10515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over-triaged in the same cohort, consuming capacity the sickest patients need</a:t>
            </a:r>
          </a:p>
        </p:txBody>
      </p:sp>
      <p:sp>
        <p:nvSpPr>
          <p:cNvPr id="14" name="Rounded Rectangle 13"/>
          <p:cNvSpPr/>
          <p:nvPr/>
        </p:nvSpPr>
        <p:spPr>
          <a:xfrm>
            <a:off x="6720840" y="4261104"/>
            <a:ext cx="4928616" cy="14173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67728" y="4407408"/>
            <a:ext cx="1691640" cy="685800"/>
          </a:xfrm>
          <a:prstGeom prst="rect">
            <a:avLst/>
          </a:prstGeom>
          <a:noFill/>
        </p:spPr>
        <p:txBody>
          <a:bodyPr wrap="square" lIns="0" rIns="0" tIns="0" bIns="0" anchor="t">
            <a:spAutoFit/>
          </a:bodyPr>
          <a:lstStyle/>
          <a:p>
            <a:pPr algn="l">
              <a:lnSpc>
                <a:spcPct val="112000"/>
              </a:lnSpc>
              <a:spcAft>
                <a:spcPts val="0"/>
              </a:spcAft>
            </a:pPr>
            <a:r>
              <a:rPr sz="3400" b="1">
                <a:solidFill>
                  <a:srgbClr val="6A00A8"/>
                </a:solidFill>
                <a:latin typeface="Arial"/>
              </a:rPr>
              <a:t>90%+</a:t>
            </a:r>
          </a:p>
        </p:txBody>
      </p:sp>
      <p:sp>
        <p:nvSpPr>
          <p:cNvPr id="16" name="TextBox 15"/>
          <p:cNvSpPr txBox="1"/>
          <p:nvPr/>
        </p:nvSpPr>
        <p:spPr>
          <a:xfrm>
            <a:off x="8549640" y="4443984"/>
            <a:ext cx="2880360" cy="10515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of US emergency departments routinely report crowded operating conditions</a:t>
            </a:r>
          </a:p>
        </p:txBody>
      </p:sp>
      <p:sp>
        <p:nvSpPr>
          <p:cNvPr id="17" name="TextBox 16"/>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Sources: Sax et al., JAMA Network Open 2023 (Kaiser Permanente Northern California, 5,315,176 encounters); American College of Emergency Physicians, crowding and boarding position materials.</a:t>
            </a:r>
          </a:p>
        </p:txBody>
      </p:sp>
    </p:spTree>
    <p:extLst>
      <p:ext uri="{BB962C8B-B14F-4D97-AF65-F5344CB8AC3E}">
        <p14:creationId xmlns:p14="http://schemas.microsoft.com/office/powerpoint/2010/main" val="96971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Why it persists: four structural failures, not four bad nurses</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5550408" cy="221284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371600"/>
            <a:ext cx="475488" cy="47548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01</a:t>
            </a:r>
          </a:p>
        </p:txBody>
      </p:sp>
      <p:sp>
        <p:nvSpPr>
          <p:cNvPr id="7" name="TextBox 6"/>
          <p:cNvSpPr txBox="1"/>
          <p:nvPr/>
        </p:nvSpPr>
        <p:spPr>
          <a:xfrm>
            <a:off x="1280160" y="1426464"/>
            <a:ext cx="4434840" cy="365760"/>
          </a:xfrm>
          <a:prstGeom prst="rect">
            <a:avLst/>
          </a:prstGeom>
          <a:noFill/>
        </p:spPr>
        <p:txBody>
          <a:bodyPr wrap="square" lIns="0" rIns="0" tIns="0" bIns="0" anchor="t">
            <a:spAutoFit/>
          </a:bodyPr>
          <a:lstStyle/>
          <a:p>
            <a:pPr algn="l">
              <a:lnSpc>
                <a:spcPct val="112000"/>
              </a:lnSpc>
              <a:spcAft>
                <a:spcPts val="0"/>
              </a:spcAft>
            </a:pPr>
            <a:r>
              <a:rPr sz="1500" b="1">
                <a:solidFill>
                  <a:srgbClr val="6A00A8"/>
                </a:solidFill>
                <a:latin typeface="Arial"/>
              </a:rPr>
              <a:t>Cognitive load, not competence</a:t>
            </a:r>
          </a:p>
        </p:txBody>
      </p:sp>
      <p:sp>
        <p:nvSpPr>
          <p:cNvPr id="8" name="TextBox 7"/>
          <p:cNvSpPr txBox="1"/>
          <p:nvPr/>
        </p:nvSpPr>
        <p:spPr>
          <a:xfrm>
            <a:off x="1280160" y="1956816"/>
            <a:ext cx="4434840" cy="118872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Surge does not make clinicians worse; it removes the time the decision needs. Chart audits of under-triaged encounters repeatedly find grossly abnormal vitals that were recorded and then not acted on.</a:t>
            </a:r>
          </a:p>
        </p:txBody>
      </p:sp>
      <p:sp>
        <p:nvSpPr>
          <p:cNvPr id="9" name="Rounded Rectangle 8"/>
          <p:cNvSpPr/>
          <p:nvPr/>
        </p:nvSpPr>
        <p:spPr>
          <a:xfrm>
            <a:off x="6099048" y="1115568"/>
            <a:ext cx="5550408" cy="221284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73368" y="1371600"/>
            <a:ext cx="475488" cy="47548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02</a:t>
            </a:r>
          </a:p>
        </p:txBody>
      </p:sp>
      <p:sp>
        <p:nvSpPr>
          <p:cNvPr id="11" name="TextBox 10"/>
          <p:cNvSpPr txBox="1"/>
          <p:nvPr/>
        </p:nvSpPr>
        <p:spPr>
          <a:xfrm>
            <a:off x="7013448" y="1426464"/>
            <a:ext cx="4434840" cy="365760"/>
          </a:xfrm>
          <a:prstGeom prst="rect">
            <a:avLst/>
          </a:prstGeom>
          <a:noFill/>
        </p:spPr>
        <p:txBody>
          <a:bodyPr wrap="square" lIns="0" rIns="0" tIns="0" bIns="0" anchor="t">
            <a:spAutoFit/>
          </a:bodyPr>
          <a:lstStyle/>
          <a:p>
            <a:pPr algn="l">
              <a:lnSpc>
                <a:spcPct val="112000"/>
              </a:lnSpc>
              <a:spcAft>
                <a:spcPts val="0"/>
              </a:spcAft>
            </a:pPr>
            <a:r>
              <a:rPr sz="1500" b="1">
                <a:solidFill>
                  <a:srgbClr val="6A00A8"/>
                </a:solidFill>
                <a:latin typeface="Arial"/>
              </a:rPr>
              <a:t>Signal dilution</a:t>
            </a:r>
          </a:p>
        </p:txBody>
      </p:sp>
      <p:sp>
        <p:nvSpPr>
          <p:cNvPr id="12" name="TextBox 11"/>
          <p:cNvSpPr txBox="1"/>
          <p:nvPr/>
        </p:nvSpPr>
        <p:spPr>
          <a:xfrm>
            <a:off x="7013448" y="1956816"/>
            <a:ext cx="4434840" cy="118872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Weighted scores average across variables. One catastrophic value, SpO₂ at 82, can be washed out by a dozen unremarkable ones and land the patient in a mid-acuity band.</a:t>
            </a:r>
          </a:p>
        </p:txBody>
      </p:sp>
      <p:sp>
        <p:nvSpPr>
          <p:cNvPr id="13" name="Rounded Rectangle 12"/>
          <p:cNvSpPr/>
          <p:nvPr/>
        </p:nvSpPr>
        <p:spPr>
          <a:xfrm>
            <a:off x="365760" y="3511296"/>
            <a:ext cx="5550408" cy="221284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3767328"/>
            <a:ext cx="475488" cy="47548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03</a:t>
            </a:r>
          </a:p>
        </p:txBody>
      </p:sp>
      <p:sp>
        <p:nvSpPr>
          <p:cNvPr id="15" name="TextBox 14"/>
          <p:cNvSpPr txBox="1"/>
          <p:nvPr/>
        </p:nvSpPr>
        <p:spPr>
          <a:xfrm>
            <a:off x="1280160" y="3822191"/>
            <a:ext cx="4434840" cy="365760"/>
          </a:xfrm>
          <a:prstGeom prst="rect">
            <a:avLst/>
          </a:prstGeom>
          <a:noFill/>
        </p:spPr>
        <p:txBody>
          <a:bodyPr wrap="square" lIns="0" rIns="0" tIns="0" bIns="0" anchor="t">
            <a:spAutoFit/>
          </a:bodyPr>
          <a:lstStyle/>
          <a:p>
            <a:pPr algn="l">
              <a:lnSpc>
                <a:spcPct val="112000"/>
              </a:lnSpc>
              <a:spcAft>
                <a:spcPts val="0"/>
              </a:spcAft>
            </a:pPr>
            <a:r>
              <a:rPr sz="1500" b="1">
                <a:solidFill>
                  <a:srgbClr val="6A00A8"/>
                </a:solidFill>
                <a:latin typeface="Arial"/>
              </a:rPr>
              <a:t>Silence reads as normal</a:t>
            </a:r>
          </a:p>
        </p:txBody>
      </p:sp>
      <p:sp>
        <p:nvSpPr>
          <p:cNvPr id="16" name="TextBox 15"/>
          <p:cNvSpPr txBox="1"/>
          <p:nvPr/>
        </p:nvSpPr>
        <p:spPr>
          <a:xfrm>
            <a:off x="1280160" y="4352544"/>
            <a:ext cx="4434840" cy="118872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A vital that was never measured looks identical to a vital that is fine. The absence of an oxygen-saturation reading is itself independently associated with under-triage.</a:t>
            </a:r>
          </a:p>
        </p:txBody>
      </p:sp>
      <p:sp>
        <p:nvSpPr>
          <p:cNvPr id="17" name="Rounded Rectangle 16"/>
          <p:cNvSpPr/>
          <p:nvPr/>
        </p:nvSpPr>
        <p:spPr>
          <a:xfrm>
            <a:off x="6099048" y="3511296"/>
            <a:ext cx="5550408" cy="221284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373368" y="3767328"/>
            <a:ext cx="475488" cy="47548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04</a:t>
            </a:r>
          </a:p>
        </p:txBody>
      </p:sp>
      <p:sp>
        <p:nvSpPr>
          <p:cNvPr id="19" name="TextBox 18"/>
          <p:cNvSpPr txBox="1"/>
          <p:nvPr/>
        </p:nvSpPr>
        <p:spPr>
          <a:xfrm>
            <a:off x="7013448" y="3822191"/>
            <a:ext cx="4434840" cy="365760"/>
          </a:xfrm>
          <a:prstGeom prst="rect">
            <a:avLst/>
          </a:prstGeom>
          <a:noFill/>
        </p:spPr>
        <p:txBody>
          <a:bodyPr wrap="square" lIns="0" rIns="0" tIns="0" bIns="0" anchor="t">
            <a:spAutoFit/>
          </a:bodyPr>
          <a:lstStyle/>
          <a:p>
            <a:pPr algn="l">
              <a:lnSpc>
                <a:spcPct val="112000"/>
              </a:lnSpc>
              <a:spcAft>
                <a:spcPts val="0"/>
              </a:spcAft>
            </a:pPr>
            <a:r>
              <a:rPr sz="1500" b="1">
                <a:solidFill>
                  <a:srgbClr val="6A00A8"/>
                </a:solidFill>
                <a:latin typeface="Arial"/>
              </a:rPr>
              <a:t>Nobody re-checks the waiting room</a:t>
            </a:r>
          </a:p>
        </p:txBody>
      </p:sp>
      <p:sp>
        <p:nvSpPr>
          <p:cNvPr id="20" name="TextBox 19"/>
          <p:cNvSpPr txBox="1"/>
          <p:nvPr/>
        </p:nvSpPr>
        <p:spPr>
          <a:xfrm>
            <a:off x="7013448" y="4352544"/>
            <a:ext cx="4434840" cy="118872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Once a band is assigned, most workflows stop observing. Deterioration between assignment and treatment is invisible until a person happens to notice it.</a:t>
            </a:r>
          </a:p>
        </p:txBody>
      </p:sp>
      <p:sp>
        <p:nvSpPr>
          <p:cNvPr id="21" name="TextBox 20"/>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Under-triage themes from Pitts et al. quality-improvement review; vital-sign association from Hayat et al., accuracy of ER triage using the Emergency Severity Index.</a:t>
            </a:r>
          </a:p>
        </p:txBody>
      </p:sp>
    </p:spTree>
    <p:extLst>
      <p:ext uri="{BB962C8B-B14F-4D97-AF65-F5344CB8AC3E}">
        <p14:creationId xmlns:p14="http://schemas.microsoft.com/office/powerpoint/2010/main" val="96971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PatientTriage.ai: a deliberately constrained system</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11283696" cy="896112"/>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5760" y="1316736"/>
            <a:ext cx="11283696" cy="548640"/>
          </a:xfrm>
          <a:prstGeom prst="rect">
            <a:avLst/>
          </a:prstGeom>
          <a:noFill/>
        </p:spPr>
        <p:txBody>
          <a:bodyPr wrap="square" lIns="0" rIns="0" tIns="0" bIns="0" anchor="t">
            <a:spAutoFit/>
          </a:bodyPr>
          <a:lstStyle/>
          <a:p>
            <a:pPr algn="ctr">
              <a:lnSpc>
                <a:spcPct val="112000"/>
              </a:lnSpc>
              <a:spcAft>
                <a:spcPts val="0"/>
              </a:spcAft>
            </a:pPr>
            <a:r>
              <a:rPr sz="2000" b="1">
                <a:solidFill>
                  <a:srgbClr val="6A00A8"/>
                </a:solidFill>
                <a:latin typeface="Arial"/>
              </a:rPr>
              <a:t>The model estimates risk.  The Safety Gate enforces safety.  The clinician decides.</a:t>
            </a:r>
          </a:p>
        </p:txBody>
      </p:sp>
      <p:sp>
        <p:nvSpPr>
          <p:cNvPr id="7" name="Rounded Rectangle 6"/>
          <p:cNvSpPr/>
          <p:nvPr/>
        </p:nvSpPr>
        <p:spPr>
          <a:xfrm>
            <a:off x="365760" y="2212848"/>
            <a:ext cx="3611880"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21792" y="2450591"/>
            <a:ext cx="960120" cy="274320"/>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PILLAR</a:t>
            </a:r>
          </a:p>
        </p:txBody>
      </p:sp>
      <p:sp>
        <p:nvSpPr>
          <p:cNvPr id="9" name="TextBox 8"/>
          <p:cNvSpPr txBox="1"/>
          <p:nvPr/>
        </p:nvSpPr>
        <p:spPr>
          <a:xfrm>
            <a:off x="621792" y="2871215"/>
            <a:ext cx="3108960" cy="566928"/>
          </a:xfrm>
          <a:prstGeom prst="rect">
            <a:avLst/>
          </a:prstGeom>
          <a:noFill/>
        </p:spPr>
        <p:txBody>
          <a:bodyPr wrap="square" lIns="0" rIns="0" tIns="0" bIns="0" anchor="t">
            <a:spAutoFit/>
          </a:bodyPr>
          <a:lstStyle/>
          <a:p>
            <a:pPr algn="l">
              <a:lnSpc>
                <a:spcPct val="112000"/>
              </a:lnSpc>
              <a:spcAft>
                <a:spcPts val="0"/>
              </a:spcAft>
            </a:pPr>
            <a:r>
              <a:rPr sz="1450" b="1">
                <a:solidFill>
                  <a:srgbClr val="1C1C22"/>
                </a:solidFill>
                <a:latin typeface="Arial"/>
              </a:rPr>
              <a:t>Escalation-only safety layer</a:t>
            </a:r>
          </a:p>
        </p:txBody>
      </p:sp>
      <p:sp>
        <p:nvSpPr>
          <p:cNvPr id="10" name="TextBox 9"/>
          <p:cNvSpPr txBox="1"/>
          <p:nvPr/>
        </p:nvSpPr>
        <p:spPr>
          <a:xfrm>
            <a:off x="621792" y="3511296"/>
            <a:ext cx="3108960" cy="960120"/>
          </a:xfrm>
          <a:prstGeom prst="rect">
            <a:avLst/>
          </a:prstGeom>
          <a:noFill/>
        </p:spPr>
        <p:txBody>
          <a:bodyPr wrap="square" lIns="0" rIns="0" tIns="0" bIns="0" anchor="t">
            <a:spAutoFit/>
          </a:bodyPr>
          <a:lstStyle/>
          <a:p>
            <a:pPr algn="l">
              <a:lnSpc>
                <a:spcPct val="112000"/>
              </a:lnSpc>
              <a:spcAft>
                <a:spcPts val="0"/>
              </a:spcAft>
            </a:pPr>
            <a:r>
              <a:rPr sz="1150" b="0">
                <a:solidFill>
                  <a:srgbClr val="5F5F70"/>
                </a:solidFill>
                <a:latin typeface="Arial"/>
              </a:rPr>
              <a:t>A deterministic rule layer sits after the model and is mathematically incapable of lowering urgency. No learned prediction can ever suppress a hard clinical redline.</a:t>
            </a:r>
          </a:p>
        </p:txBody>
      </p:sp>
      <p:sp>
        <p:nvSpPr>
          <p:cNvPr id="11" name="Rounded Rectangle 10"/>
          <p:cNvSpPr/>
          <p:nvPr/>
        </p:nvSpPr>
        <p:spPr>
          <a:xfrm>
            <a:off x="4206240" y="2212848"/>
            <a:ext cx="3611880"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462272" y="2450591"/>
            <a:ext cx="960120" cy="274320"/>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PILLAR</a:t>
            </a:r>
          </a:p>
        </p:txBody>
      </p:sp>
      <p:sp>
        <p:nvSpPr>
          <p:cNvPr id="13" name="TextBox 12"/>
          <p:cNvSpPr txBox="1"/>
          <p:nvPr/>
        </p:nvSpPr>
        <p:spPr>
          <a:xfrm>
            <a:off x="4462272" y="2871215"/>
            <a:ext cx="3108960" cy="566928"/>
          </a:xfrm>
          <a:prstGeom prst="rect">
            <a:avLst/>
          </a:prstGeom>
          <a:noFill/>
        </p:spPr>
        <p:txBody>
          <a:bodyPr wrap="square" lIns="0" rIns="0" tIns="0" bIns="0" anchor="t">
            <a:spAutoFit/>
          </a:bodyPr>
          <a:lstStyle/>
          <a:p>
            <a:pPr algn="l">
              <a:lnSpc>
                <a:spcPct val="112000"/>
              </a:lnSpc>
              <a:spcAft>
                <a:spcPts val="0"/>
              </a:spcAft>
            </a:pPr>
            <a:r>
              <a:rPr sz="1450" b="1">
                <a:solidFill>
                  <a:srgbClr val="1C1C22"/>
                </a:solidFill>
                <a:latin typeface="Arial"/>
              </a:rPr>
              <a:t>Missingness is evidence, not silence</a:t>
            </a:r>
          </a:p>
        </p:txBody>
      </p:sp>
      <p:sp>
        <p:nvSpPr>
          <p:cNvPr id="14" name="TextBox 13"/>
          <p:cNvSpPr txBox="1"/>
          <p:nvPr/>
        </p:nvSpPr>
        <p:spPr>
          <a:xfrm>
            <a:off x="4462272" y="3511296"/>
            <a:ext cx="3108960" cy="960120"/>
          </a:xfrm>
          <a:prstGeom prst="rect">
            <a:avLst/>
          </a:prstGeom>
          <a:noFill/>
        </p:spPr>
        <p:txBody>
          <a:bodyPr wrap="square" lIns="0" rIns="0" tIns="0" bIns="0" anchor="t">
            <a:spAutoFit/>
          </a:bodyPr>
          <a:lstStyle/>
          <a:p>
            <a:pPr algn="l">
              <a:lnSpc>
                <a:spcPct val="112000"/>
              </a:lnSpc>
              <a:spcAft>
                <a:spcPts val="0"/>
              </a:spcAft>
            </a:pPr>
            <a:r>
              <a:rPr sz="1150" b="0">
                <a:solidFill>
                  <a:srgbClr val="5F5F70"/>
                </a:solidFill>
                <a:latin typeface="Arial"/>
              </a:rPr>
              <a:t>Every absent field is an explicit feature and an explicit completeness grade. Low completeness with residual risk escalates the patient; it never reduces the estimated danger.</a:t>
            </a:r>
          </a:p>
        </p:txBody>
      </p:sp>
      <p:sp>
        <p:nvSpPr>
          <p:cNvPr id="15" name="Rounded Rectangle 14"/>
          <p:cNvSpPr/>
          <p:nvPr/>
        </p:nvSpPr>
        <p:spPr>
          <a:xfrm>
            <a:off x="8046720" y="2212848"/>
            <a:ext cx="3611880"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302752" y="2450591"/>
            <a:ext cx="960120" cy="274320"/>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PILLAR</a:t>
            </a:r>
          </a:p>
        </p:txBody>
      </p:sp>
      <p:sp>
        <p:nvSpPr>
          <p:cNvPr id="17" name="TextBox 16"/>
          <p:cNvSpPr txBox="1"/>
          <p:nvPr/>
        </p:nvSpPr>
        <p:spPr>
          <a:xfrm>
            <a:off x="8302752" y="2871215"/>
            <a:ext cx="3108960" cy="566928"/>
          </a:xfrm>
          <a:prstGeom prst="rect">
            <a:avLst/>
          </a:prstGeom>
          <a:noFill/>
        </p:spPr>
        <p:txBody>
          <a:bodyPr wrap="square" lIns="0" rIns="0" tIns="0" bIns="0" anchor="t">
            <a:spAutoFit/>
          </a:bodyPr>
          <a:lstStyle/>
          <a:p>
            <a:pPr algn="l">
              <a:lnSpc>
                <a:spcPct val="112000"/>
              </a:lnSpc>
              <a:spcAft>
                <a:spcPts val="0"/>
              </a:spcAft>
            </a:pPr>
            <a:r>
              <a:rPr sz="1450" b="1">
                <a:solidFill>
                  <a:srgbClr val="1C1C22"/>
                </a:solidFill>
                <a:latin typeface="Arial"/>
              </a:rPr>
              <a:t>The decision is never final</a:t>
            </a:r>
          </a:p>
        </p:txBody>
      </p:sp>
      <p:sp>
        <p:nvSpPr>
          <p:cNvPr id="18" name="TextBox 17"/>
          <p:cNvSpPr txBox="1"/>
          <p:nvPr/>
        </p:nvSpPr>
        <p:spPr>
          <a:xfrm>
            <a:off x="8302752" y="3511296"/>
            <a:ext cx="3108960" cy="960120"/>
          </a:xfrm>
          <a:prstGeom prst="rect">
            <a:avLst/>
          </a:prstGeom>
          <a:noFill/>
        </p:spPr>
        <p:txBody>
          <a:bodyPr wrap="square" lIns="0" rIns="0" tIns="0" bIns="0" anchor="t">
            <a:spAutoFit/>
          </a:bodyPr>
          <a:lstStyle/>
          <a:p>
            <a:pPr algn="l">
              <a:lnSpc>
                <a:spcPct val="112000"/>
              </a:lnSpc>
              <a:spcAft>
                <a:spcPts val="0"/>
              </a:spcAft>
            </a:pPr>
            <a:r>
              <a:rPr sz="1150" b="0">
                <a:solidFill>
                  <a:srgbClr val="5F5F70"/>
                </a:solidFill>
                <a:latin typeface="Arial"/>
              </a:rPr>
              <a:t>Each band carries a safe-wait ceiling. Crossing it raises a persisted reassessment flag and re-runs the full pipeline against fresh vitals. Triage becomes a loop, not an event.</a:t>
            </a:r>
          </a:p>
        </p:txBody>
      </p:sp>
      <p:sp>
        <p:nvSpPr>
          <p:cNvPr id="19" name="Rounded Rectangle 18"/>
          <p:cNvSpPr/>
          <p:nvPr/>
        </p:nvSpPr>
        <p:spPr>
          <a:xfrm>
            <a:off x="365760" y="4572000"/>
            <a:ext cx="11283696" cy="868680"/>
          </a:xfrm>
          <a:prstGeom prst="roundRect">
            <a:avLst>
              <a:gd name="adj" fmla="val 5000"/>
            </a:avLst>
          </a:prstGeom>
          <a:solidFill>
            <a:srgbClr val="FFF6F6"/>
          </a:solidFill>
          <a:ln w="12700">
            <a:solidFill>
              <a:srgbClr val="B00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4736592"/>
            <a:ext cx="10698480" cy="594360"/>
          </a:xfrm>
          <a:prstGeom prst="rect">
            <a:avLst/>
          </a:prstGeom>
          <a:noFill/>
        </p:spPr>
        <p:txBody>
          <a:bodyPr wrap="square" lIns="0" rIns="0" tIns="0" bIns="0" anchor="t">
            <a:spAutoFit/>
          </a:bodyPr>
          <a:lstStyle/>
          <a:p>
            <a:pPr algn="l">
              <a:lnSpc>
                <a:spcPct val="112000"/>
              </a:lnSpc>
              <a:spcAft>
                <a:spcPts val="300"/>
              </a:spcAft>
            </a:pPr>
            <a:r>
              <a:rPr sz="1250" b="1">
                <a:solidFill>
                  <a:srgbClr val="B00020"/>
                </a:solidFill>
                <a:latin typeface="Arial"/>
              </a:rPr>
              <a:t>What it is not:</a:t>
            </a:r>
          </a:p>
          <a:p>
            <a:pPr algn="l">
              <a:lnSpc>
                <a:spcPct val="112000"/>
              </a:lnSpc>
              <a:spcAft>
                <a:spcPts val="0"/>
              </a:spcAft>
            </a:pPr>
            <a:r>
              <a:rPr sz="1200" b="0">
                <a:solidFill>
                  <a:srgbClr val="1C1C22"/>
                </a:solidFill>
                <a:latin typeface="Arial"/>
              </a:rPr>
              <a:t>Not an autonomous triage system, not a diagnostic device, and not clinically validated. It is decision support that makes a human judgement faster, better-evidenced and fully reconstructable after the fact.</a:t>
            </a:r>
          </a:p>
        </p:txBody>
      </p:sp>
    </p:spTree>
    <p:extLst>
      <p:ext uri="{BB962C8B-B14F-4D97-AF65-F5344CB8AC3E}">
        <p14:creationId xmlns:p14="http://schemas.microsoft.com/office/powerpoint/2010/main" val="96971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Architecture: one request path from arrival to band</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438912" y="1389888"/>
            <a:ext cx="1700784" cy="1691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Intake</a:t>
            </a:r>
          </a:p>
        </p:txBody>
      </p:sp>
      <p:sp>
        <p:nvSpPr>
          <p:cNvPr id="7" name="TextBox 6"/>
          <p:cNvSpPr txBox="1"/>
          <p:nvPr/>
        </p:nvSpPr>
        <p:spPr>
          <a:xfrm>
            <a:off x="530352"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Vitals, age,
history, symptoms
+ free-text note</a:t>
            </a:r>
          </a:p>
        </p:txBody>
      </p:sp>
      <p:sp>
        <p:nvSpPr>
          <p:cNvPr id="8" name="Right Arrow 7"/>
          <p:cNvSpPr/>
          <p:nvPr/>
        </p:nvSpPr>
        <p:spPr>
          <a:xfrm>
            <a:off x="2157984" y="2157984"/>
            <a:ext cx="182879"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359152" y="1389888"/>
            <a:ext cx="1700784" cy="1691640"/>
          </a:xfrm>
          <a:prstGeom prst="roundRect">
            <a:avLst>
              <a:gd name="adj" fmla="val 5000"/>
            </a:avLst>
          </a:prstGeom>
          <a:solidFill>
            <a:srgbClr val="F5EB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468880"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Extraction</a:t>
            </a:r>
          </a:p>
        </p:txBody>
      </p:sp>
      <p:sp>
        <p:nvSpPr>
          <p:cNvPr id="11" name="TextBox 10"/>
          <p:cNvSpPr txBox="1"/>
          <p:nvPr/>
        </p:nvSpPr>
        <p:spPr>
          <a:xfrm>
            <a:off x="2450592"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Note → structured
symptoms, negations,
red flags</a:t>
            </a:r>
          </a:p>
        </p:txBody>
      </p:sp>
      <p:sp>
        <p:nvSpPr>
          <p:cNvPr id="12" name="Right Arrow 11"/>
          <p:cNvSpPr/>
          <p:nvPr/>
        </p:nvSpPr>
        <p:spPr>
          <a:xfrm>
            <a:off x="4078224" y="2157984"/>
            <a:ext cx="182879"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279392" y="1389888"/>
            <a:ext cx="1700784" cy="1691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89120"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Features</a:t>
            </a:r>
          </a:p>
        </p:txBody>
      </p:sp>
      <p:sp>
        <p:nvSpPr>
          <p:cNvPr id="15" name="TextBox 14"/>
          <p:cNvSpPr txBox="1"/>
          <p:nvPr/>
        </p:nvSpPr>
        <p:spPr>
          <a:xfrm>
            <a:off x="4370831"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Age-conditioned,
temporal, missingness
signals</a:t>
            </a:r>
          </a:p>
        </p:txBody>
      </p:sp>
      <p:sp>
        <p:nvSpPr>
          <p:cNvPr id="16" name="Right Arrow 15"/>
          <p:cNvSpPr/>
          <p:nvPr/>
        </p:nvSpPr>
        <p:spPr>
          <a:xfrm>
            <a:off x="5998464" y="2157984"/>
            <a:ext cx="182879"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199631" y="1389888"/>
            <a:ext cx="1700784" cy="1691640"/>
          </a:xfrm>
          <a:prstGeom prst="roundRect">
            <a:avLst>
              <a:gd name="adj" fmla="val 5000"/>
            </a:avLst>
          </a:prstGeom>
          <a:solidFill>
            <a:srgbClr val="F5EB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9359"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Model</a:t>
            </a:r>
          </a:p>
        </p:txBody>
      </p:sp>
      <p:sp>
        <p:nvSpPr>
          <p:cNvPr id="19" name="TextBox 18"/>
          <p:cNvSpPr txBox="1"/>
          <p:nvPr/>
        </p:nvSpPr>
        <p:spPr>
          <a:xfrm>
            <a:off x="6291071"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Calibrated XGBoost
P(critical) +
severity score</a:t>
            </a:r>
          </a:p>
        </p:txBody>
      </p:sp>
      <p:sp>
        <p:nvSpPr>
          <p:cNvPr id="20" name="Right Arrow 19"/>
          <p:cNvSpPr/>
          <p:nvPr/>
        </p:nvSpPr>
        <p:spPr>
          <a:xfrm>
            <a:off x="7918703" y="2157984"/>
            <a:ext cx="182879"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119871" y="1389888"/>
            <a:ext cx="1700784" cy="1691640"/>
          </a:xfrm>
          <a:prstGeom prst="roundRect">
            <a:avLst>
              <a:gd name="adj" fmla="val 5000"/>
            </a:avLst>
          </a:prstGeom>
          <a:solidFill>
            <a:srgbClr val="FBF7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9"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Safety Gate</a:t>
            </a:r>
          </a:p>
        </p:txBody>
      </p:sp>
      <p:sp>
        <p:nvSpPr>
          <p:cNvPr id="23" name="TextBox 22"/>
          <p:cNvSpPr txBox="1"/>
          <p:nvPr/>
        </p:nvSpPr>
        <p:spPr>
          <a:xfrm>
            <a:off x="8211311"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Deterministic rules
Escalate only
Never de-escalate</a:t>
            </a:r>
          </a:p>
        </p:txBody>
      </p:sp>
      <p:sp>
        <p:nvSpPr>
          <p:cNvPr id="24" name="Right Arrow 23"/>
          <p:cNvSpPr/>
          <p:nvPr/>
        </p:nvSpPr>
        <p:spPr>
          <a:xfrm>
            <a:off x="9838943" y="2157984"/>
            <a:ext cx="182879"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10040111" y="1389888"/>
            <a:ext cx="1700784" cy="1691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49839" y="1554480"/>
            <a:ext cx="1481328" cy="292608"/>
          </a:xfrm>
          <a:prstGeom prst="rect">
            <a:avLst/>
          </a:prstGeom>
          <a:noFill/>
        </p:spPr>
        <p:txBody>
          <a:bodyPr wrap="square" lIns="0" rIns="0" tIns="0" bIns="0" anchor="t">
            <a:spAutoFit/>
          </a:bodyPr>
          <a:lstStyle/>
          <a:p>
            <a:pPr algn="ctr">
              <a:lnSpc>
                <a:spcPct val="112000"/>
              </a:lnSpc>
              <a:spcAft>
                <a:spcPts val="0"/>
              </a:spcAft>
            </a:pPr>
            <a:r>
              <a:rPr sz="1300" b="1">
                <a:solidFill>
                  <a:srgbClr val="6A00A8"/>
                </a:solidFill>
                <a:latin typeface="Arial"/>
              </a:rPr>
              <a:t>Clinician</a:t>
            </a:r>
          </a:p>
        </p:txBody>
      </p:sp>
      <p:sp>
        <p:nvSpPr>
          <p:cNvPr id="27" name="TextBox 26"/>
          <p:cNvSpPr txBox="1"/>
          <p:nvPr/>
        </p:nvSpPr>
        <p:spPr>
          <a:xfrm>
            <a:off x="10131551" y="1956816"/>
            <a:ext cx="1517904" cy="960120"/>
          </a:xfrm>
          <a:prstGeom prst="rect">
            <a:avLst/>
          </a:prstGeom>
          <a:noFill/>
        </p:spPr>
        <p:txBody>
          <a:bodyPr wrap="square" lIns="0" rIns="0" tIns="0" bIns="0" anchor="t">
            <a:spAutoFit/>
          </a:bodyPr>
          <a:lstStyle/>
          <a:p>
            <a:pPr algn="ctr">
              <a:lnSpc>
                <a:spcPct val="112000"/>
              </a:lnSpc>
              <a:spcAft>
                <a:spcPts val="0"/>
              </a:spcAft>
            </a:pPr>
            <a:r>
              <a:rPr sz="1050" b="0">
                <a:solidFill>
                  <a:srgbClr val="1C1C22"/>
                </a:solidFill>
                <a:latin typeface="Arial"/>
              </a:rPr>
              <a:t>Recommendation,
SHAP reasons,
final call</a:t>
            </a:r>
          </a:p>
        </p:txBody>
      </p:sp>
      <p:sp>
        <p:nvSpPr>
          <p:cNvPr id="28" name="Rounded Rectangle 27"/>
          <p:cNvSpPr/>
          <p:nvPr/>
        </p:nvSpPr>
        <p:spPr>
          <a:xfrm>
            <a:off x="365760" y="3355848"/>
            <a:ext cx="7726679" cy="148132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1792" y="3547872"/>
            <a:ext cx="7223760" cy="1143000"/>
          </a:xfrm>
          <a:prstGeom prst="rect">
            <a:avLst/>
          </a:prstGeom>
          <a:noFill/>
        </p:spPr>
        <p:txBody>
          <a:bodyPr wrap="square" lIns="0" rIns="0" tIns="0" bIns="0" anchor="t">
            <a:spAutoFit/>
          </a:bodyPr>
          <a:lstStyle/>
          <a:p>
            <a:pPr algn="l">
              <a:lnSpc>
                <a:spcPct val="112000"/>
              </a:lnSpc>
              <a:spcAft>
                <a:spcPts val="500"/>
              </a:spcAft>
            </a:pPr>
            <a:r>
              <a:rPr sz="1350" b="1">
                <a:solidFill>
                  <a:srgbClr val="6A00A8"/>
                </a:solidFill>
                <a:latin typeface="Arial"/>
              </a:rPr>
              <a:t>The monitoring loop</a:t>
            </a:r>
          </a:p>
          <a:p>
            <a:pPr algn="l">
              <a:lnSpc>
                <a:spcPct val="112000"/>
              </a:lnSpc>
              <a:spcAft>
                <a:spcPts val="0"/>
              </a:spcAft>
            </a:pPr>
            <a:r>
              <a:rPr sz="1200" b="0">
                <a:solidFill>
                  <a:srgbClr val="1C1C22"/>
                </a:solidFill>
                <a:latin typeface="Arial"/>
              </a:rPr>
              <a:t>Queue → wait-time monitoring → safe-wait ceiling breached → persisted reassessment flag → new vitals → full pipeline re-run against the original arrival time. The flag clears only if the re-run no longer places the patient in breach.</a:t>
            </a:r>
          </a:p>
        </p:txBody>
      </p:sp>
      <p:sp>
        <p:nvSpPr>
          <p:cNvPr id="30" name="Rounded Rectangle 29"/>
          <p:cNvSpPr/>
          <p:nvPr/>
        </p:nvSpPr>
        <p:spPr>
          <a:xfrm>
            <a:off x="8321040" y="3355848"/>
            <a:ext cx="3328416" cy="1481328"/>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58784" y="3547872"/>
            <a:ext cx="2880360" cy="1143000"/>
          </a:xfrm>
          <a:prstGeom prst="rect">
            <a:avLst/>
          </a:prstGeom>
          <a:noFill/>
        </p:spPr>
        <p:txBody>
          <a:bodyPr wrap="square" lIns="0" rIns="0" tIns="0" bIns="0" anchor="t">
            <a:spAutoFit/>
          </a:bodyPr>
          <a:lstStyle/>
          <a:p>
            <a:pPr algn="l">
              <a:lnSpc>
                <a:spcPct val="112000"/>
              </a:lnSpc>
              <a:spcAft>
                <a:spcPts val="500"/>
              </a:spcAft>
            </a:pPr>
            <a:r>
              <a:rPr sz="1350" b="1">
                <a:solidFill>
                  <a:srgbClr val="6A00A8"/>
                </a:solidFill>
                <a:latin typeface="Arial"/>
              </a:rPr>
              <a:t>Written at every step</a:t>
            </a:r>
          </a:p>
          <a:p>
            <a:pPr algn="l">
              <a:lnSpc>
                <a:spcPct val="112000"/>
              </a:lnSpc>
              <a:spcAft>
                <a:spcPts val="0"/>
              </a:spcAft>
            </a:pPr>
            <a:r>
              <a:rPr sz="1150" b="0">
                <a:solidFill>
                  <a:srgbClr val="1C1C22"/>
                </a:solidFill>
                <a:latin typeface="Arial"/>
              </a:rPr>
              <a:t>Input snapshot, feature snapshot, model / calibration / schema versions, gate triggers, extraction backend, override reason, fallback status.</a:t>
            </a:r>
          </a:p>
        </p:txBody>
      </p:sp>
      <p:sp>
        <p:nvSpPr>
          <p:cNvPr id="32" name="Rounded Rectangle 31"/>
          <p:cNvSpPr/>
          <p:nvPr/>
        </p:nvSpPr>
        <p:spPr>
          <a:xfrm>
            <a:off x="365760" y="4974336"/>
            <a:ext cx="11283696" cy="658368"/>
          </a:xfrm>
          <a:prstGeom prst="roundRect">
            <a:avLst>
              <a:gd name="adj" fmla="val 5000"/>
            </a:avLst>
          </a:prstGeom>
          <a:solidFill>
            <a:srgbClr val="F2FBF5"/>
          </a:solidFill>
          <a:ln w="12700">
            <a:solidFill>
              <a:srgbClr val="007D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120640"/>
            <a:ext cx="10698480" cy="41148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Degradation path: if the model is unavailable the request does not fail. The gate caps the recommendation, marks the mode as safety fallback, returns a null probability, and the audit record says so.</a:t>
            </a:r>
          </a:p>
        </p:txBody>
      </p:sp>
    </p:spTree>
    <p:extLst>
      <p:ext uri="{BB962C8B-B14F-4D97-AF65-F5344CB8AC3E}">
        <p14:creationId xmlns:p14="http://schemas.microsoft.com/office/powerpoint/2010/main" val="969716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The Safety Gate: the part that is not allowed to be learned</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7589520" cy="7863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3504" y="1225295"/>
            <a:ext cx="1874519" cy="274320"/>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Hard redlines</a:t>
            </a:r>
          </a:p>
        </p:txBody>
      </p:sp>
      <p:sp>
        <p:nvSpPr>
          <p:cNvPr id="7" name="TextBox 6"/>
          <p:cNvSpPr txBox="1"/>
          <p:nvPr/>
        </p:nvSpPr>
        <p:spPr>
          <a:xfrm>
            <a:off x="603504" y="1536192"/>
            <a:ext cx="7132320" cy="310896"/>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SpO₂ &lt; 90 · SBP &lt; 90 · HR &gt; 150 or &lt; 45 · RR outside 9–32 · red-flag phrase · active bleeding · altered mental status</a:t>
            </a:r>
          </a:p>
        </p:txBody>
      </p:sp>
      <p:sp>
        <p:nvSpPr>
          <p:cNvPr id="8" name="Rounded Rectangle 7"/>
          <p:cNvSpPr/>
          <p:nvPr/>
        </p:nvSpPr>
        <p:spPr>
          <a:xfrm>
            <a:off x="8183879" y="1353312"/>
            <a:ext cx="1417320" cy="310896"/>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FORCES</a:t>
            </a:r>
          </a:p>
        </p:txBody>
      </p:sp>
      <p:sp>
        <p:nvSpPr>
          <p:cNvPr id="9" name="TextBox 8"/>
          <p:cNvSpPr txBox="1"/>
          <p:nvPr/>
        </p:nvSpPr>
        <p:spPr>
          <a:xfrm>
            <a:off x="9710928" y="1371600"/>
            <a:ext cx="1938528" cy="292608"/>
          </a:xfrm>
          <a:prstGeom prst="rect">
            <a:avLst/>
          </a:prstGeom>
          <a:noFill/>
        </p:spPr>
        <p:txBody>
          <a:bodyPr wrap="square" lIns="0" rIns="0" tIns="0" bIns="0" anchor="t">
            <a:spAutoFit/>
          </a:bodyPr>
          <a:lstStyle/>
          <a:p>
            <a:pPr algn="l">
              <a:lnSpc>
                <a:spcPct val="112000"/>
              </a:lnSpc>
              <a:spcAft>
                <a:spcPts val="0"/>
              </a:spcAft>
            </a:pPr>
            <a:r>
              <a:rPr sz="1100" b="1">
                <a:solidFill>
                  <a:srgbClr val="1C1C22"/>
                </a:solidFill>
                <a:latin typeface="Arial"/>
              </a:rPr>
              <a:t>Forces Band 1</a:t>
            </a:r>
          </a:p>
        </p:txBody>
      </p:sp>
      <p:sp>
        <p:nvSpPr>
          <p:cNvPr id="10" name="Rounded Rectangle 9"/>
          <p:cNvSpPr/>
          <p:nvPr/>
        </p:nvSpPr>
        <p:spPr>
          <a:xfrm>
            <a:off x="365760" y="1975104"/>
            <a:ext cx="7589520" cy="7863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3504" y="2084832"/>
            <a:ext cx="1874519" cy="274320"/>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Deterioration</a:t>
            </a:r>
          </a:p>
        </p:txBody>
      </p:sp>
      <p:sp>
        <p:nvSpPr>
          <p:cNvPr id="12" name="TextBox 11"/>
          <p:cNvSpPr txBox="1"/>
          <p:nvPr/>
        </p:nvSpPr>
        <p:spPr>
          <a:xfrm>
            <a:off x="603504" y="2395728"/>
            <a:ext cx="7132320" cy="310896"/>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Two or more worsening vitals across repeat readings</a:t>
            </a:r>
          </a:p>
        </p:txBody>
      </p:sp>
      <p:sp>
        <p:nvSpPr>
          <p:cNvPr id="13" name="Rounded Rectangle 12"/>
          <p:cNvSpPr/>
          <p:nvPr/>
        </p:nvSpPr>
        <p:spPr>
          <a:xfrm>
            <a:off x="8183879" y="2212848"/>
            <a:ext cx="141732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ESCALATES</a:t>
            </a:r>
          </a:p>
        </p:txBody>
      </p:sp>
      <p:sp>
        <p:nvSpPr>
          <p:cNvPr id="14" name="TextBox 13"/>
          <p:cNvSpPr txBox="1"/>
          <p:nvPr/>
        </p:nvSpPr>
        <p:spPr>
          <a:xfrm>
            <a:off x="9710928" y="2231136"/>
            <a:ext cx="1938528" cy="292608"/>
          </a:xfrm>
          <a:prstGeom prst="rect">
            <a:avLst/>
          </a:prstGeom>
          <a:noFill/>
        </p:spPr>
        <p:txBody>
          <a:bodyPr wrap="square" lIns="0" rIns="0" tIns="0" bIns="0" anchor="t">
            <a:spAutoFit/>
          </a:bodyPr>
          <a:lstStyle/>
          <a:p>
            <a:pPr algn="l">
              <a:lnSpc>
                <a:spcPct val="112000"/>
              </a:lnSpc>
              <a:spcAft>
                <a:spcPts val="0"/>
              </a:spcAft>
            </a:pPr>
            <a:r>
              <a:rPr sz="1100" b="1">
                <a:solidFill>
                  <a:srgbClr val="1C1C22"/>
                </a:solidFill>
                <a:latin typeface="Arial"/>
              </a:rPr>
              <a:t>Escalates one band</a:t>
            </a:r>
          </a:p>
        </p:txBody>
      </p:sp>
      <p:sp>
        <p:nvSpPr>
          <p:cNvPr id="15" name="Rounded Rectangle 14"/>
          <p:cNvSpPr/>
          <p:nvPr/>
        </p:nvSpPr>
        <p:spPr>
          <a:xfrm>
            <a:off x="365760" y="2834640"/>
            <a:ext cx="7589520" cy="7863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2944368"/>
            <a:ext cx="1874519" cy="274320"/>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Low completeness</a:t>
            </a:r>
          </a:p>
        </p:txBody>
      </p:sp>
      <p:sp>
        <p:nvSpPr>
          <p:cNvPr id="17" name="TextBox 16"/>
          <p:cNvSpPr txBox="1"/>
          <p:nvPr/>
        </p:nvSpPr>
        <p:spPr>
          <a:xfrm>
            <a:off x="603504" y="3255264"/>
            <a:ext cx="7132320" cy="310896"/>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Sparse intake data with a residual risk signal present</a:t>
            </a:r>
          </a:p>
        </p:txBody>
      </p:sp>
      <p:sp>
        <p:nvSpPr>
          <p:cNvPr id="18" name="Rounded Rectangle 17"/>
          <p:cNvSpPr/>
          <p:nvPr/>
        </p:nvSpPr>
        <p:spPr>
          <a:xfrm>
            <a:off x="8183879" y="3072384"/>
            <a:ext cx="141732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ESCALATES</a:t>
            </a:r>
          </a:p>
        </p:txBody>
      </p:sp>
      <p:sp>
        <p:nvSpPr>
          <p:cNvPr id="19" name="TextBox 18"/>
          <p:cNvSpPr txBox="1"/>
          <p:nvPr/>
        </p:nvSpPr>
        <p:spPr>
          <a:xfrm>
            <a:off x="9710928" y="3090672"/>
            <a:ext cx="1938528" cy="292608"/>
          </a:xfrm>
          <a:prstGeom prst="rect">
            <a:avLst/>
          </a:prstGeom>
          <a:noFill/>
        </p:spPr>
        <p:txBody>
          <a:bodyPr wrap="square" lIns="0" rIns="0" tIns="0" bIns="0" anchor="t">
            <a:spAutoFit/>
          </a:bodyPr>
          <a:lstStyle/>
          <a:p>
            <a:pPr algn="l">
              <a:lnSpc>
                <a:spcPct val="112000"/>
              </a:lnSpc>
              <a:spcAft>
                <a:spcPts val="0"/>
              </a:spcAft>
            </a:pPr>
            <a:r>
              <a:rPr sz="1100" b="1">
                <a:solidFill>
                  <a:srgbClr val="1C1C22"/>
                </a:solidFill>
                <a:latin typeface="Arial"/>
              </a:rPr>
              <a:t>Escalates one band</a:t>
            </a:r>
          </a:p>
        </p:txBody>
      </p:sp>
      <p:sp>
        <p:nvSpPr>
          <p:cNvPr id="20" name="Rounded Rectangle 19"/>
          <p:cNvSpPr/>
          <p:nvPr/>
        </p:nvSpPr>
        <p:spPr>
          <a:xfrm>
            <a:off x="365760" y="3694176"/>
            <a:ext cx="7589520" cy="7863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3504" y="3803904"/>
            <a:ext cx="1874519" cy="274320"/>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Model unavailable</a:t>
            </a:r>
          </a:p>
        </p:txBody>
      </p:sp>
      <p:sp>
        <p:nvSpPr>
          <p:cNvPr id="22" name="TextBox 21"/>
          <p:cNvSpPr txBox="1"/>
          <p:nvPr/>
        </p:nvSpPr>
        <p:spPr>
          <a:xfrm>
            <a:off x="603504" y="4114800"/>
            <a:ext cx="7132320" cy="310896"/>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Scoring path down; recommendation mode marked as fallback</a:t>
            </a:r>
          </a:p>
        </p:txBody>
      </p:sp>
      <p:sp>
        <p:nvSpPr>
          <p:cNvPr id="23" name="Rounded Rectangle 22"/>
          <p:cNvSpPr/>
          <p:nvPr/>
        </p:nvSpPr>
        <p:spPr>
          <a:xfrm>
            <a:off x="8183879" y="3931920"/>
            <a:ext cx="141732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CAPS</a:t>
            </a:r>
          </a:p>
        </p:txBody>
      </p:sp>
      <p:sp>
        <p:nvSpPr>
          <p:cNvPr id="24" name="TextBox 23"/>
          <p:cNvSpPr txBox="1"/>
          <p:nvPr/>
        </p:nvSpPr>
        <p:spPr>
          <a:xfrm>
            <a:off x="9710928" y="3950208"/>
            <a:ext cx="1938528" cy="292608"/>
          </a:xfrm>
          <a:prstGeom prst="rect">
            <a:avLst/>
          </a:prstGeom>
          <a:noFill/>
        </p:spPr>
        <p:txBody>
          <a:bodyPr wrap="square" lIns="0" rIns="0" tIns="0" bIns="0" anchor="t">
            <a:spAutoFit/>
          </a:bodyPr>
          <a:lstStyle/>
          <a:p>
            <a:pPr algn="l">
              <a:lnSpc>
                <a:spcPct val="112000"/>
              </a:lnSpc>
              <a:spcAft>
                <a:spcPts val="0"/>
              </a:spcAft>
            </a:pPr>
            <a:r>
              <a:rPr sz="1100" b="1">
                <a:solidFill>
                  <a:srgbClr val="1C1C22"/>
                </a:solidFill>
                <a:latin typeface="Arial"/>
              </a:rPr>
              <a:t>Caps at Band 3</a:t>
            </a:r>
          </a:p>
        </p:txBody>
      </p:sp>
      <p:sp>
        <p:nvSpPr>
          <p:cNvPr id="25" name="Rounded Rectangle 24"/>
          <p:cNvSpPr/>
          <p:nvPr/>
        </p:nvSpPr>
        <p:spPr>
          <a:xfrm>
            <a:off x="365760" y="4553712"/>
            <a:ext cx="7589520" cy="7863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03504" y="4663440"/>
            <a:ext cx="1874519" cy="274320"/>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Structural floors</a:t>
            </a:r>
          </a:p>
        </p:txBody>
      </p:sp>
      <p:sp>
        <p:nvSpPr>
          <p:cNvPr id="27" name="TextBox 26"/>
          <p:cNvSpPr txBox="1"/>
          <p:nvPr/>
        </p:nvSpPr>
        <p:spPr>
          <a:xfrm>
            <a:off x="603504" y="4974336"/>
            <a:ext cx="7132320" cy="310896"/>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Zero-history with signal · pregnancy with bleeding or abdominal pain · geriatric fall</a:t>
            </a:r>
          </a:p>
        </p:txBody>
      </p:sp>
      <p:sp>
        <p:nvSpPr>
          <p:cNvPr id="28" name="Rounded Rectangle 27"/>
          <p:cNvSpPr/>
          <p:nvPr/>
        </p:nvSpPr>
        <p:spPr>
          <a:xfrm>
            <a:off x="8183879" y="4791456"/>
            <a:ext cx="141732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FFFFFF"/>
                </a:solidFill>
                <a:latin typeface="Arial"/>
              </a:rPr>
              <a:t>FLOOR</a:t>
            </a:r>
          </a:p>
        </p:txBody>
      </p:sp>
      <p:sp>
        <p:nvSpPr>
          <p:cNvPr id="29" name="TextBox 28"/>
          <p:cNvSpPr txBox="1"/>
          <p:nvPr/>
        </p:nvSpPr>
        <p:spPr>
          <a:xfrm>
            <a:off x="9710928" y="4809744"/>
            <a:ext cx="1938528" cy="292608"/>
          </a:xfrm>
          <a:prstGeom prst="rect">
            <a:avLst/>
          </a:prstGeom>
          <a:noFill/>
        </p:spPr>
        <p:txBody>
          <a:bodyPr wrap="square" lIns="0" rIns="0" tIns="0" bIns="0" anchor="t">
            <a:spAutoFit/>
          </a:bodyPr>
          <a:lstStyle/>
          <a:p>
            <a:pPr algn="l">
              <a:lnSpc>
                <a:spcPct val="112000"/>
              </a:lnSpc>
              <a:spcAft>
                <a:spcPts val="0"/>
              </a:spcAft>
            </a:pPr>
            <a:r>
              <a:rPr sz="1100" b="1">
                <a:solidFill>
                  <a:srgbClr val="1C1C22"/>
                </a:solidFill>
                <a:latin typeface="Arial"/>
              </a:rPr>
              <a:t>Floor of Band 3</a:t>
            </a:r>
          </a:p>
        </p:txBody>
      </p:sp>
      <p:sp>
        <p:nvSpPr>
          <p:cNvPr id="30" name="Rounded Rectangle 29"/>
          <p:cNvSpPr/>
          <p:nvPr/>
        </p:nvSpPr>
        <p:spPr>
          <a:xfrm>
            <a:off x="365760" y="5486400"/>
            <a:ext cx="11283696" cy="96012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5632704"/>
            <a:ext cx="10698480" cy="731520"/>
          </a:xfrm>
          <a:prstGeom prst="rect">
            <a:avLst/>
          </a:prstGeom>
          <a:noFill/>
        </p:spPr>
        <p:txBody>
          <a:bodyPr wrap="square" lIns="0" rIns="0" tIns="0" bIns="0" anchor="t">
            <a:spAutoFit/>
          </a:bodyPr>
          <a:lstStyle/>
          <a:p>
            <a:pPr algn="l">
              <a:lnSpc>
                <a:spcPct val="112000"/>
              </a:lnSpc>
              <a:spcAft>
                <a:spcPts val="500"/>
              </a:spcAft>
            </a:pPr>
            <a:r>
              <a:rPr sz="1350" b="1">
                <a:solidFill>
                  <a:srgbClr val="6A00A8"/>
                </a:solidFill>
                <a:latin typeface="Arial"/>
              </a:rPr>
              <a:t>The invariant, enforced in code and asserted by test</a:t>
            </a:r>
          </a:p>
          <a:p>
            <a:pPr algn="l">
              <a:lnSpc>
                <a:spcPct val="112000"/>
              </a:lnSpc>
              <a:spcAft>
                <a:spcPts val="0"/>
              </a:spcAft>
            </a:pPr>
            <a:r>
              <a:rPr sz="1200" b="0">
                <a:solidFill>
                  <a:srgbClr val="1C1C22"/>
                </a:solidFill>
                <a:latin typeface="Arial"/>
              </a:rPr>
              <a:t>The gate's final operation clamps its own output against the model's band, so the returned band can only ever be equal to or more urgent than what the model proposed. The test suite asserts this for every hard rule crossed with every possible model band, so the property cannot silently regress.</a:t>
            </a:r>
          </a:p>
        </p:txBody>
      </p:sp>
    </p:spTree>
    <p:extLst>
      <p:ext uri="{BB962C8B-B14F-4D97-AF65-F5344CB8AC3E}">
        <p14:creationId xmlns:p14="http://schemas.microsoft.com/office/powerpoint/2010/main" val="969716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Role boundaries: what each layer may and may not do</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11283696" cy="402336"/>
          </a:xfrm>
          <a:prstGeom prst="roundRect">
            <a:avLst>
              <a:gd name="adj" fmla="val 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3504" y="1207008"/>
            <a:ext cx="2194560" cy="237744"/>
          </a:xfrm>
          <a:prstGeom prst="rect">
            <a:avLst/>
          </a:prstGeom>
          <a:noFill/>
        </p:spPr>
        <p:txBody>
          <a:bodyPr wrap="square" lIns="0" rIns="0" tIns="0" bIns="0" anchor="t">
            <a:spAutoFit/>
          </a:bodyPr>
          <a:lstStyle/>
          <a:p>
            <a:pPr algn="l">
              <a:lnSpc>
                <a:spcPct val="112000"/>
              </a:lnSpc>
              <a:spcAft>
                <a:spcPts val="0"/>
              </a:spcAft>
            </a:pPr>
            <a:r>
              <a:rPr sz="1050" b="1">
                <a:solidFill>
                  <a:srgbClr val="FFFFFF"/>
                </a:solidFill>
                <a:latin typeface="Arial"/>
              </a:rPr>
              <a:t>LAYER</a:t>
            </a:r>
          </a:p>
        </p:txBody>
      </p:sp>
      <p:sp>
        <p:nvSpPr>
          <p:cNvPr id="7" name="TextBox 6"/>
          <p:cNvSpPr txBox="1"/>
          <p:nvPr/>
        </p:nvSpPr>
        <p:spPr>
          <a:xfrm>
            <a:off x="2788920" y="1207008"/>
            <a:ext cx="4023360" cy="237744"/>
          </a:xfrm>
          <a:prstGeom prst="rect">
            <a:avLst/>
          </a:prstGeom>
          <a:noFill/>
        </p:spPr>
        <p:txBody>
          <a:bodyPr wrap="square" lIns="0" rIns="0" tIns="0" bIns="0" anchor="t">
            <a:spAutoFit/>
          </a:bodyPr>
          <a:lstStyle/>
          <a:p>
            <a:pPr algn="l">
              <a:lnSpc>
                <a:spcPct val="112000"/>
              </a:lnSpc>
              <a:spcAft>
                <a:spcPts val="0"/>
              </a:spcAft>
            </a:pPr>
            <a:r>
              <a:rPr sz="1050" b="1">
                <a:solidFill>
                  <a:srgbClr val="FFFFFF"/>
                </a:solidFill>
                <a:latin typeface="Arial"/>
              </a:rPr>
              <a:t>MAY</a:t>
            </a:r>
          </a:p>
        </p:txBody>
      </p:sp>
      <p:sp>
        <p:nvSpPr>
          <p:cNvPr id="8" name="TextBox 7"/>
          <p:cNvSpPr txBox="1"/>
          <p:nvPr/>
        </p:nvSpPr>
        <p:spPr>
          <a:xfrm>
            <a:off x="7406640" y="1207008"/>
            <a:ext cx="4023360" cy="237744"/>
          </a:xfrm>
          <a:prstGeom prst="rect">
            <a:avLst/>
          </a:prstGeom>
          <a:noFill/>
        </p:spPr>
        <p:txBody>
          <a:bodyPr wrap="square" lIns="0" rIns="0" tIns="0" bIns="0" anchor="t">
            <a:spAutoFit/>
          </a:bodyPr>
          <a:lstStyle/>
          <a:p>
            <a:pPr algn="l">
              <a:lnSpc>
                <a:spcPct val="112000"/>
              </a:lnSpc>
              <a:spcAft>
                <a:spcPts val="0"/>
              </a:spcAft>
            </a:pPr>
            <a:r>
              <a:rPr sz="1050" b="1">
                <a:solidFill>
                  <a:srgbClr val="FFFFFF"/>
                </a:solidFill>
                <a:latin typeface="Arial"/>
              </a:rPr>
              <a:t>MAY NOT</a:t>
            </a:r>
          </a:p>
        </p:txBody>
      </p:sp>
      <p:sp>
        <p:nvSpPr>
          <p:cNvPr id="9" name="Rounded Rectangle 8"/>
          <p:cNvSpPr/>
          <p:nvPr/>
        </p:nvSpPr>
        <p:spPr>
          <a:xfrm>
            <a:off x="365760" y="1609344"/>
            <a:ext cx="11283696" cy="109728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3504" y="1810512"/>
            <a:ext cx="2194560"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Language model</a:t>
            </a:r>
          </a:p>
        </p:txBody>
      </p:sp>
      <p:sp>
        <p:nvSpPr>
          <p:cNvPr id="11" name="TextBox 10"/>
          <p:cNvSpPr txBox="1"/>
          <p:nvPr/>
        </p:nvSpPr>
        <p:spPr>
          <a:xfrm>
            <a:off x="2788920" y="1773936"/>
            <a:ext cx="4434840" cy="8229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Turn free text into structured symptoms, negations and red flags. Suggest which missing field to collect. Format explanations.</a:t>
            </a:r>
          </a:p>
        </p:txBody>
      </p:sp>
      <p:sp>
        <p:nvSpPr>
          <p:cNvPr id="12" name="TextBox 11"/>
          <p:cNvSpPr txBox="1"/>
          <p:nvPr/>
        </p:nvSpPr>
        <p:spPr>
          <a:xfrm>
            <a:off x="7406640" y="1773936"/>
            <a:ext cx="4023360" cy="822960"/>
          </a:xfrm>
          <a:prstGeom prst="rect">
            <a:avLst/>
          </a:prstGeom>
          <a:noFill/>
        </p:spPr>
        <p:txBody>
          <a:bodyPr wrap="square" lIns="0" rIns="0" tIns="0" bIns="0" anchor="t">
            <a:spAutoFit/>
          </a:bodyPr>
          <a:lstStyle/>
          <a:p>
            <a:pPr algn="l">
              <a:lnSpc>
                <a:spcPct val="112000"/>
              </a:lnSpc>
              <a:spcAft>
                <a:spcPts val="0"/>
              </a:spcAft>
            </a:pPr>
            <a:r>
              <a:rPr sz="1150" b="0">
                <a:solidFill>
                  <a:srgbClr val="B00020"/>
                </a:solidFill>
                <a:latin typeface="Arial"/>
              </a:rPr>
              <a:t>Assign a band. Override the gate. Invent a vital sign. Create a clinical fact absent from the note.</a:t>
            </a:r>
          </a:p>
        </p:txBody>
      </p:sp>
      <p:sp>
        <p:nvSpPr>
          <p:cNvPr id="13" name="Rounded Rectangle 12"/>
          <p:cNvSpPr/>
          <p:nvPr/>
        </p:nvSpPr>
        <p:spPr>
          <a:xfrm>
            <a:off x="365760" y="2779776"/>
            <a:ext cx="11283696" cy="1097280"/>
          </a:xfrm>
          <a:prstGeom prst="roundRect">
            <a:avLst>
              <a:gd name="adj" fmla="val 5000"/>
            </a:avLst>
          </a:prstGeom>
          <a:solidFill>
            <a:srgbClr val="FFFF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3504" y="2980944"/>
            <a:ext cx="2194560"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Learned model</a:t>
            </a:r>
          </a:p>
        </p:txBody>
      </p:sp>
      <p:sp>
        <p:nvSpPr>
          <p:cNvPr id="15" name="TextBox 14"/>
          <p:cNvSpPr txBox="1"/>
          <p:nvPr/>
        </p:nvSpPr>
        <p:spPr>
          <a:xfrm>
            <a:off x="2788920" y="2944368"/>
            <a:ext cx="4434840" cy="8229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Estimate probability of a critical presentation and a continuous severity score from the feature vector.</a:t>
            </a:r>
          </a:p>
        </p:txBody>
      </p:sp>
      <p:sp>
        <p:nvSpPr>
          <p:cNvPr id="16" name="TextBox 15"/>
          <p:cNvSpPr txBox="1"/>
          <p:nvPr/>
        </p:nvSpPr>
        <p:spPr>
          <a:xfrm>
            <a:off x="7406640" y="2944368"/>
            <a:ext cx="4023360" cy="822960"/>
          </a:xfrm>
          <a:prstGeom prst="rect">
            <a:avLst/>
          </a:prstGeom>
          <a:noFill/>
        </p:spPr>
        <p:txBody>
          <a:bodyPr wrap="square" lIns="0" rIns="0" tIns="0" bIns="0" anchor="t">
            <a:spAutoFit/>
          </a:bodyPr>
          <a:lstStyle/>
          <a:p>
            <a:pPr algn="l">
              <a:lnSpc>
                <a:spcPct val="112000"/>
              </a:lnSpc>
              <a:spcAft>
                <a:spcPts val="0"/>
              </a:spcAft>
            </a:pPr>
            <a:r>
              <a:rPr sz="1150" b="0">
                <a:solidFill>
                  <a:srgbClr val="B00020"/>
                </a:solidFill>
                <a:latin typeface="Arial"/>
              </a:rPr>
              <a:t>Be the last word. Suppress a hard redline. Be trusted uncalibrated.</a:t>
            </a:r>
          </a:p>
        </p:txBody>
      </p:sp>
      <p:sp>
        <p:nvSpPr>
          <p:cNvPr id="17" name="Rounded Rectangle 16"/>
          <p:cNvSpPr/>
          <p:nvPr/>
        </p:nvSpPr>
        <p:spPr>
          <a:xfrm>
            <a:off x="365760" y="3950208"/>
            <a:ext cx="11283696" cy="109728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03504" y="4151376"/>
            <a:ext cx="2194560"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Safety Gate</a:t>
            </a:r>
          </a:p>
        </p:txBody>
      </p:sp>
      <p:sp>
        <p:nvSpPr>
          <p:cNvPr id="19" name="TextBox 18"/>
          <p:cNvSpPr txBox="1"/>
          <p:nvPr/>
        </p:nvSpPr>
        <p:spPr>
          <a:xfrm>
            <a:off x="2788920" y="4114800"/>
            <a:ext cx="4434840" cy="8229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Escalate on redlines, deterioration, low completeness and structural floors. Explain which rule fired.</a:t>
            </a:r>
          </a:p>
        </p:txBody>
      </p:sp>
      <p:sp>
        <p:nvSpPr>
          <p:cNvPr id="20" name="TextBox 19"/>
          <p:cNvSpPr txBox="1"/>
          <p:nvPr/>
        </p:nvSpPr>
        <p:spPr>
          <a:xfrm>
            <a:off x="7406640" y="4114800"/>
            <a:ext cx="4023360" cy="822960"/>
          </a:xfrm>
          <a:prstGeom prst="rect">
            <a:avLst/>
          </a:prstGeom>
          <a:noFill/>
        </p:spPr>
        <p:txBody>
          <a:bodyPr wrap="square" lIns="0" rIns="0" tIns="0" bIns="0" anchor="t">
            <a:spAutoFit/>
          </a:bodyPr>
          <a:lstStyle/>
          <a:p>
            <a:pPr algn="l">
              <a:lnSpc>
                <a:spcPct val="112000"/>
              </a:lnSpc>
              <a:spcAft>
                <a:spcPts val="0"/>
              </a:spcAft>
            </a:pPr>
            <a:r>
              <a:rPr sz="1150" b="0">
                <a:solidFill>
                  <a:srgbClr val="B00020"/>
                </a:solidFill>
                <a:latin typeface="Arial"/>
              </a:rPr>
              <a:t>Reduce urgency, under any input, in any mode, ever.</a:t>
            </a:r>
          </a:p>
        </p:txBody>
      </p:sp>
      <p:sp>
        <p:nvSpPr>
          <p:cNvPr id="21" name="Rounded Rectangle 20"/>
          <p:cNvSpPr/>
          <p:nvPr/>
        </p:nvSpPr>
        <p:spPr>
          <a:xfrm>
            <a:off x="365760" y="5120640"/>
            <a:ext cx="11283696" cy="1097280"/>
          </a:xfrm>
          <a:prstGeom prst="roundRect">
            <a:avLst>
              <a:gd name="adj" fmla="val 5000"/>
            </a:avLst>
          </a:prstGeom>
          <a:solidFill>
            <a:srgbClr val="FFFF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3504" y="5321808"/>
            <a:ext cx="2194560"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Clinician</a:t>
            </a:r>
          </a:p>
        </p:txBody>
      </p:sp>
      <p:sp>
        <p:nvSpPr>
          <p:cNvPr id="23" name="TextBox 22"/>
          <p:cNvSpPr txBox="1"/>
          <p:nvPr/>
        </p:nvSpPr>
        <p:spPr>
          <a:xfrm>
            <a:off x="2788920" y="5285232"/>
            <a:ext cx="4434840" cy="82296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Confirm, escalate freely, or downgrade with a structured reason code that enters the record.</a:t>
            </a:r>
          </a:p>
        </p:txBody>
      </p:sp>
      <p:sp>
        <p:nvSpPr>
          <p:cNvPr id="24" name="TextBox 23"/>
          <p:cNvSpPr txBox="1"/>
          <p:nvPr/>
        </p:nvSpPr>
        <p:spPr>
          <a:xfrm>
            <a:off x="7406640" y="5285232"/>
            <a:ext cx="4023360" cy="822960"/>
          </a:xfrm>
          <a:prstGeom prst="rect">
            <a:avLst/>
          </a:prstGeom>
          <a:noFill/>
        </p:spPr>
        <p:txBody>
          <a:bodyPr wrap="square" lIns="0" rIns="0" tIns="0" bIns="0" anchor="t">
            <a:spAutoFit/>
          </a:bodyPr>
          <a:lstStyle/>
          <a:p>
            <a:pPr algn="l">
              <a:lnSpc>
                <a:spcPct val="112000"/>
              </a:lnSpc>
              <a:spcAft>
                <a:spcPts val="0"/>
              </a:spcAft>
            </a:pPr>
            <a:r>
              <a:rPr sz="1150" b="0">
                <a:solidFill>
                  <a:srgbClr val="B00020"/>
                </a:solidFill>
                <a:latin typeface="Arial"/>
              </a:rPr>
              <a:t>Downgrade silently. The reason code is a hard requirement, enforced at the API and the UI.</a:t>
            </a:r>
          </a:p>
        </p:txBody>
      </p:sp>
      <p:sp>
        <p:nvSpPr>
          <p:cNvPr id="25" name="TextBox 24"/>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Every boundary above is covered by an automated test; the suite runs on each build.</a:t>
            </a:r>
          </a:p>
        </p:txBody>
      </p:sp>
    </p:spTree>
    <p:extLst>
      <p:ext uri="{BB962C8B-B14F-4D97-AF65-F5344CB8AC3E}">
        <p14:creationId xmlns:p14="http://schemas.microsoft.com/office/powerpoint/2010/main" val="969716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Evidence: 4,000-patient benchmark, 5-fold CV across 3 seeds</a:t>
            </a:r>
            <a:endParaRPr lang="en-IN" sz="2000" dirty="0">
              <a:solidFill>
                <a:schemeClr val="bg1"/>
              </a:solidFill>
              <a:latin typeface="Graphik" panose="020B0503030202060203" pitchFamily="34" charset="0"/>
              <a:cs typeface="Arial" panose="020B0604020202020204" pitchFamily="34" charset="0"/>
            </a:endParaRPr>
          </a:p>
        </p:txBody>
      </p:sp>
      <p:graphicFrame>
        <p:nvGraphicFramePr>
          <p:cNvPr id="5" name="Chart 4"/>
          <p:cNvGraphicFramePr>
            <a:graphicFrameLocks noGrp="1"/>
          </p:cNvGraphicFramePr>
          <p:nvPr/>
        </p:nvGraphicFramePr>
        <p:xfrm>
          <a:off x="365760" y="1161288"/>
          <a:ext cx="6720840" cy="3931920"/>
        </p:xfrm>
        <a:graphic>
          <a:graphicData uri="http://schemas.openxmlformats.org/drawingml/2006/chart">
            <c:chart xmlns:c="http://schemas.openxmlformats.org/drawingml/2006/chart" r:id="rId2"/>
          </a:graphicData>
        </a:graphic>
      </p:graphicFrame>
      <p:sp>
        <p:nvSpPr>
          <p:cNvPr id="6" name="Rounded Rectangle 5"/>
          <p:cNvSpPr/>
          <p:nvPr/>
        </p:nvSpPr>
        <p:spPr>
          <a:xfrm>
            <a:off x="7360920" y="1161288"/>
            <a:ext cx="4288536" cy="12435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589520" y="1325880"/>
            <a:ext cx="3840480" cy="256032"/>
          </a:xfrm>
          <a:prstGeom prst="rect">
            <a:avLst/>
          </a:prstGeom>
          <a:noFill/>
        </p:spPr>
        <p:txBody>
          <a:bodyPr wrap="square" lIns="0" rIns="0" tIns="0" bIns="0" anchor="t">
            <a:spAutoFit/>
          </a:bodyPr>
          <a:lstStyle/>
          <a:p>
            <a:pPr algn="l">
              <a:lnSpc>
                <a:spcPct val="112000"/>
              </a:lnSpc>
              <a:spcAft>
                <a:spcPts val="0"/>
              </a:spcAft>
            </a:pPr>
            <a:r>
              <a:rPr sz="1250" b="1">
                <a:solidFill>
                  <a:srgbClr val="A100FF"/>
                </a:solidFill>
                <a:latin typeface="Arial"/>
              </a:rPr>
              <a:t>Chosen operating point</a:t>
            </a:r>
          </a:p>
        </p:txBody>
      </p:sp>
      <p:sp>
        <p:nvSpPr>
          <p:cNvPr id="8" name="TextBox 7"/>
          <p:cNvSpPr txBox="1"/>
          <p:nvPr/>
        </p:nvSpPr>
        <p:spPr>
          <a:xfrm>
            <a:off x="7589520" y="1655064"/>
            <a:ext cx="3840480" cy="658368"/>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6x critical-class weight. The cost sweep at 2x / 4x / 6x / 10x is run, not assumed: 10x buys 3 recall points for 5 precision points and was rejected.</a:t>
            </a:r>
          </a:p>
        </p:txBody>
      </p:sp>
      <p:sp>
        <p:nvSpPr>
          <p:cNvPr id="9" name="Rounded Rectangle 8"/>
          <p:cNvSpPr/>
          <p:nvPr/>
        </p:nvSpPr>
        <p:spPr>
          <a:xfrm>
            <a:off x="7360920" y="2514600"/>
            <a:ext cx="4288536" cy="12435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0" y="2679192"/>
            <a:ext cx="3840480" cy="256032"/>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Subgroup recall</a:t>
            </a:r>
          </a:p>
        </p:txBody>
      </p:sp>
      <p:sp>
        <p:nvSpPr>
          <p:cNvPr id="11" name="TextBox 10"/>
          <p:cNvSpPr txBox="1"/>
          <p:nvPr/>
        </p:nvSpPr>
        <p:spPr>
          <a:xfrm>
            <a:off x="7589520" y="3008376"/>
            <a:ext cx="3840480" cy="658368"/>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Pediatric 0.89 · Adult 0.87 · Geriatric 0.91. No age group left materially behind at the deployed threshold.</a:t>
            </a:r>
          </a:p>
        </p:txBody>
      </p:sp>
      <p:sp>
        <p:nvSpPr>
          <p:cNvPr id="12" name="Rounded Rectangle 11"/>
          <p:cNvSpPr/>
          <p:nvPr/>
        </p:nvSpPr>
        <p:spPr>
          <a:xfrm>
            <a:off x="7360920" y="3867912"/>
            <a:ext cx="4288536" cy="1243584"/>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89520" y="4032504"/>
            <a:ext cx="3840480" cy="256032"/>
          </a:xfrm>
          <a:prstGeom prst="rect">
            <a:avLst/>
          </a:prstGeom>
          <a:noFill/>
        </p:spPr>
        <p:txBody>
          <a:bodyPr wrap="square" lIns="0" rIns="0" tIns="0" bIns="0" anchor="t">
            <a:spAutoFit/>
          </a:bodyPr>
          <a:lstStyle/>
          <a:p>
            <a:pPr algn="l">
              <a:lnSpc>
                <a:spcPct val="112000"/>
              </a:lnSpc>
              <a:spcAft>
                <a:spcPts val="0"/>
              </a:spcAft>
            </a:pPr>
            <a:r>
              <a:rPr sz="1250" b="1">
                <a:solidFill>
                  <a:srgbClr val="B45309"/>
                </a:solidFill>
                <a:latin typeface="Arial"/>
              </a:rPr>
              <a:t>Reported honestly</a:t>
            </a:r>
          </a:p>
        </p:txBody>
      </p:sp>
      <p:sp>
        <p:nvSpPr>
          <p:cNvPr id="14" name="TextBox 13"/>
          <p:cNvSpPr txBox="1"/>
          <p:nvPr/>
        </p:nvSpPr>
        <p:spPr>
          <a:xfrm>
            <a:off x="7589520" y="4361688"/>
            <a:ext cx="3840480" cy="658368"/>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XGBoost does not beat balanced logistic regression on ranking quality (AUPRC 0.849 vs 0.854). Its advantage is recall bought with precision.</a:t>
            </a:r>
          </a:p>
        </p:txBody>
      </p:sp>
      <p:sp>
        <p:nvSpPr>
          <p:cNvPr id="15" name="TextBox 14"/>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Synthetic development benchmark. Critical prevalence 30.0%. These are controlled-development results, not clinical validation.</a:t>
            </a:r>
          </a:p>
        </p:txBody>
      </p:sp>
    </p:spTree>
    <p:extLst>
      <p:ext uri="{BB962C8B-B14F-4D97-AF65-F5344CB8AC3E}">
        <p14:creationId xmlns:p14="http://schemas.microsoft.com/office/powerpoint/2010/main" val="969716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Validation integrity: what our own audit found</a:t>
            </a:r>
            <a:endParaRPr lang="en-IN" sz="2000"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65760" y="1115568"/>
            <a:ext cx="11283696" cy="411480"/>
          </a:xfrm>
          <a:prstGeom prst="rect">
            <a:avLst/>
          </a:prstGeom>
          <a:noFill/>
        </p:spPr>
        <p:txBody>
          <a:bodyPr wrap="square" lIns="0" rIns="0" tIns="0" bIns="0" anchor="t">
            <a:spAutoFit/>
          </a:bodyPr>
          <a:lstStyle/>
          <a:p>
            <a:pPr algn="l">
              <a:lnSpc>
                <a:spcPct val="112000"/>
              </a:lnSpc>
              <a:spcAft>
                <a:spcPts val="0"/>
              </a:spcAft>
            </a:pPr>
            <a:r>
              <a:rPr sz="1400" b="1">
                <a:solidFill>
                  <a:srgbClr val="1C1C22"/>
                </a:solidFill>
                <a:latin typeface="Arial"/>
              </a:rPr>
              <a:t>We ran an adversarial pass on our own benchmark. It found a data-generation artifact inflating the headline number. We are reporting it rather than shipping it.</a:t>
            </a:r>
          </a:p>
        </p:txBody>
      </p:sp>
      <p:sp>
        <p:nvSpPr>
          <p:cNvPr id="6" name="Rounded Rectangle 5"/>
          <p:cNvSpPr/>
          <p:nvPr/>
        </p:nvSpPr>
        <p:spPr>
          <a:xfrm>
            <a:off x="365760" y="1682495"/>
            <a:ext cx="5532120" cy="2331720"/>
          </a:xfrm>
          <a:prstGeom prst="roundRect">
            <a:avLst>
              <a:gd name="adj" fmla="val 5000"/>
            </a:avLst>
          </a:prstGeom>
          <a:solidFill>
            <a:srgbClr val="FFF6F6"/>
          </a:solidFill>
          <a:ln w="12700">
            <a:solidFill>
              <a:srgbClr val="B00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1792" y="1865376"/>
            <a:ext cx="5029200" cy="2011680"/>
          </a:xfrm>
          <a:prstGeom prst="rect">
            <a:avLst/>
          </a:prstGeom>
          <a:noFill/>
        </p:spPr>
        <p:txBody>
          <a:bodyPr wrap="square" lIns="0" rIns="0" tIns="0" bIns="0" anchor="t">
            <a:spAutoFit/>
          </a:bodyPr>
          <a:lstStyle/>
          <a:p>
            <a:pPr algn="l">
              <a:lnSpc>
                <a:spcPct val="112000"/>
              </a:lnSpc>
              <a:spcAft>
                <a:spcPts val="600"/>
              </a:spcAft>
            </a:pPr>
            <a:r>
              <a:rPr sz="1350" b="1">
                <a:solidFill>
                  <a:srgbClr val="B00020"/>
                </a:solidFill>
                <a:latin typeface="Arial"/>
              </a:rPr>
              <a:t>The finding</a:t>
            </a:r>
          </a:p>
          <a:p>
            <a:pPr algn="l">
              <a:lnSpc>
                <a:spcPct val="112000"/>
              </a:lnSpc>
              <a:spcAft>
                <a:spcPts val="800"/>
              </a:spcAft>
            </a:pPr>
            <a:r>
              <a:rPr sz="1200" b="0">
                <a:solidFill>
                  <a:srgbClr val="1C1C22"/>
                </a:solidFill>
                <a:latin typeface="Arial"/>
              </a:rPr>
              <a:t>The synthetic label generator imputes a missing vital as zero before scoring it. Zero trips the low-SpO₂, low-SBP and low-HR thresholds, so every patient with a missing vital is labelled near-critical by construction.</a:t>
            </a:r>
          </a:p>
          <a:p>
            <a:pPr algn="l">
              <a:lnSpc>
                <a:spcPct val="112000"/>
              </a:lnSpc>
              <a:spcAft>
                <a:spcPts val="0"/>
              </a:spcAft>
            </a:pPr>
            <a:r>
              <a:rPr sz="1200" b="0">
                <a:solidFill>
                  <a:srgbClr val="1C1C22"/>
                </a:solidFill>
                <a:latin typeface="Arial"/>
              </a:rPr>
              <a:t>Critical rate when SpO₂ is present: 25.1%.  When it is missing: 66.7%.  Temperature, which has no low threshold in the generator, shows no such effect, which is the control that confirms the mechanism.</a:t>
            </a:r>
          </a:p>
        </p:txBody>
      </p:sp>
      <p:sp>
        <p:nvSpPr>
          <p:cNvPr id="8" name="Rounded Rectangle 7"/>
          <p:cNvSpPr/>
          <p:nvPr/>
        </p:nvSpPr>
        <p:spPr>
          <a:xfrm>
            <a:off x="6144768" y="1682495"/>
            <a:ext cx="5504688" cy="233172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82512" y="1865376"/>
            <a:ext cx="5029200" cy="2011680"/>
          </a:xfrm>
          <a:prstGeom prst="rect">
            <a:avLst/>
          </a:prstGeom>
          <a:noFill/>
        </p:spPr>
        <p:txBody>
          <a:bodyPr wrap="square" lIns="0" rIns="0" tIns="0" bIns="0" anchor="t">
            <a:spAutoFit/>
          </a:bodyPr>
          <a:lstStyle/>
          <a:p>
            <a:pPr algn="l">
              <a:lnSpc>
                <a:spcPct val="112000"/>
              </a:lnSpc>
              <a:spcAft>
                <a:spcPts val="600"/>
              </a:spcAft>
            </a:pPr>
            <a:r>
              <a:rPr sz="1350" b="1">
                <a:solidFill>
                  <a:srgbClr val="6A00A8"/>
                </a:solidFill>
                <a:latin typeface="Arial"/>
              </a:rPr>
              <a:t>The consequence</a:t>
            </a:r>
          </a:p>
          <a:p>
            <a:pPr algn="l">
              <a:lnSpc>
                <a:spcPct val="112000"/>
              </a:lnSpc>
              <a:spcAft>
                <a:spcPts val="800"/>
              </a:spcAft>
            </a:pPr>
            <a:r>
              <a:rPr sz="1200" b="0">
                <a:solidFill>
                  <a:srgbClr val="1C1C22"/>
                </a:solidFill>
                <a:latin typeface="Arial"/>
              </a:rPr>
              <a:t>Five binary missingness flags alone, carrying zero clinical information, reach AUPRC 0.655 against the full model's 0.849, on a 30% base rate.</a:t>
            </a:r>
          </a:p>
          <a:p>
            <a:pPr algn="l">
              <a:lnSpc>
                <a:spcPct val="112000"/>
              </a:lnSpc>
              <a:spcAft>
                <a:spcPts val="0"/>
              </a:spcAft>
            </a:pPr>
            <a:r>
              <a:rPr sz="1200" b="0">
                <a:solidFill>
                  <a:srgbClr val="1C1C22"/>
                </a:solidFill>
                <a:latin typeface="Arial"/>
              </a:rPr>
              <a:t>This explains why missingness indicators rank among the top global SHAP drivers. A material share of the headline recall is learned artifact, not learned physiology.</a:t>
            </a:r>
          </a:p>
        </p:txBody>
      </p:sp>
      <p:sp>
        <p:nvSpPr>
          <p:cNvPr id="10" name="Rounded Rectangle 9"/>
          <p:cNvSpPr/>
          <p:nvPr/>
        </p:nvSpPr>
        <p:spPr>
          <a:xfrm>
            <a:off x="365760" y="4178808"/>
            <a:ext cx="11283696" cy="1874519"/>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361688"/>
            <a:ext cx="10698480" cy="292608"/>
          </a:xfrm>
          <a:prstGeom prst="rect">
            <a:avLst/>
          </a:prstGeom>
          <a:noFill/>
        </p:spPr>
        <p:txBody>
          <a:bodyPr wrap="square" lIns="0" rIns="0" tIns="0" bIns="0" anchor="t">
            <a:spAutoFit/>
          </a:bodyPr>
          <a:lstStyle/>
          <a:p>
            <a:pPr algn="l">
              <a:lnSpc>
                <a:spcPct val="112000"/>
              </a:lnSpc>
              <a:spcAft>
                <a:spcPts val="0"/>
              </a:spcAft>
            </a:pPr>
            <a:r>
              <a:rPr sz="1350" b="1">
                <a:solidFill>
                  <a:srgbClr val="6A00A8"/>
                </a:solidFill>
                <a:latin typeface="Arial"/>
              </a:rPr>
              <a:t>The correction, before any pilot</a:t>
            </a:r>
          </a:p>
        </p:txBody>
      </p:sp>
      <p:sp>
        <p:nvSpPr>
          <p:cNvPr id="12" name="TextBox 11"/>
          <p:cNvSpPr txBox="1"/>
          <p:nvPr/>
        </p:nvSpPr>
        <p:spPr>
          <a:xfrm>
            <a:off x="640080" y="4773168"/>
            <a:ext cx="3401568" cy="1143000"/>
          </a:xfrm>
          <a:prstGeom prst="rect">
            <a:avLst/>
          </a:prstGeom>
          <a:noFill/>
        </p:spPr>
        <p:txBody>
          <a:bodyPr wrap="square" lIns="0" rIns="0" tIns="0" bIns="0" anchor="t">
            <a:spAutoFit/>
          </a:bodyPr>
          <a:lstStyle/>
          <a:p>
            <a:pPr algn="l">
              <a:lnSpc>
                <a:spcPct val="112000"/>
              </a:lnSpc>
              <a:spcAft>
                <a:spcPts val="500"/>
              </a:spcAft>
            </a:pPr>
            <a:r>
              <a:rPr sz="1200" b="1">
                <a:solidFill>
                  <a:srgbClr val="A100FF"/>
                </a:solidFill>
                <a:latin typeface="Arial"/>
              </a:rPr>
              <a:t>Sever the imputation</a:t>
            </a:r>
          </a:p>
          <a:p>
            <a:pPr algn="l">
              <a:lnSpc>
                <a:spcPct val="112000"/>
              </a:lnSpc>
              <a:spcAft>
                <a:spcPts val="0"/>
              </a:spcAft>
            </a:pPr>
            <a:r>
              <a:rPr sz="1100" b="0">
                <a:solidFill>
                  <a:srgbClr val="1C1C22"/>
                </a:solidFill>
                <a:latin typeface="Arial"/>
              </a:rPr>
              <a:t>Generate the label from the complete patient, then apply missingness afterwards. Missingness becomes a masking step, not a severity input.</a:t>
            </a:r>
          </a:p>
        </p:txBody>
      </p:sp>
      <p:sp>
        <p:nvSpPr>
          <p:cNvPr id="13" name="TextBox 12"/>
          <p:cNvSpPr txBox="1"/>
          <p:nvPr/>
        </p:nvSpPr>
        <p:spPr>
          <a:xfrm>
            <a:off x="4206240" y="4773168"/>
            <a:ext cx="3401568" cy="1143000"/>
          </a:xfrm>
          <a:prstGeom prst="rect">
            <a:avLst/>
          </a:prstGeom>
          <a:noFill/>
        </p:spPr>
        <p:txBody>
          <a:bodyPr wrap="square" lIns="0" rIns="0" tIns="0" bIns="0" anchor="t">
            <a:spAutoFit/>
          </a:bodyPr>
          <a:lstStyle/>
          <a:p>
            <a:pPr algn="l">
              <a:lnSpc>
                <a:spcPct val="112000"/>
              </a:lnSpc>
              <a:spcAft>
                <a:spcPts val="500"/>
              </a:spcAft>
            </a:pPr>
            <a:r>
              <a:rPr sz="1200" b="1">
                <a:solidFill>
                  <a:srgbClr val="A100FF"/>
                </a:solidFill>
                <a:latin typeface="Arial"/>
              </a:rPr>
              <a:t>Re-benchmark</a:t>
            </a:r>
          </a:p>
          <a:p>
            <a:pPr algn="l">
              <a:lnSpc>
                <a:spcPct val="112000"/>
              </a:lnSpc>
              <a:spcAft>
                <a:spcPts val="0"/>
              </a:spcAft>
            </a:pPr>
            <a:r>
              <a:rPr sz="1100" b="0">
                <a:solidFill>
                  <a:srgbClr val="1C1C22"/>
                </a:solidFill>
                <a:latin typeface="Arial"/>
              </a:rPr>
              <a:t>Re-run the full comparison and cost sweep on corrected labels. Expect the headline recall to fall; report the corrected number.</a:t>
            </a:r>
          </a:p>
        </p:txBody>
      </p:sp>
      <p:sp>
        <p:nvSpPr>
          <p:cNvPr id="14" name="TextBox 13"/>
          <p:cNvSpPr txBox="1"/>
          <p:nvPr/>
        </p:nvSpPr>
        <p:spPr>
          <a:xfrm>
            <a:off x="7772400" y="4773168"/>
            <a:ext cx="3401568" cy="1143000"/>
          </a:xfrm>
          <a:prstGeom prst="rect">
            <a:avLst/>
          </a:prstGeom>
          <a:noFill/>
        </p:spPr>
        <p:txBody>
          <a:bodyPr wrap="square" lIns="0" rIns="0" tIns="0" bIns="0" anchor="t">
            <a:spAutoFit/>
          </a:bodyPr>
          <a:lstStyle/>
          <a:p>
            <a:pPr algn="l">
              <a:lnSpc>
                <a:spcPct val="112000"/>
              </a:lnSpc>
              <a:spcAft>
                <a:spcPts val="500"/>
              </a:spcAft>
            </a:pPr>
            <a:r>
              <a:rPr sz="1200" b="1">
                <a:solidFill>
                  <a:srgbClr val="A100FF"/>
                </a:solidFill>
                <a:latin typeface="Arial"/>
              </a:rPr>
              <a:t>Ablate</a:t>
            </a:r>
          </a:p>
          <a:p>
            <a:pPr algn="l">
              <a:lnSpc>
                <a:spcPct val="112000"/>
              </a:lnSpc>
              <a:spcAft>
                <a:spcPts val="0"/>
              </a:spcAft>
            </a:pPr>
            <a:r>
              <a:rPr sz="1100" b="0">
                <a:solidFill>
                  <a:srgbClr val="1C1C22"/>
                </a:solidFill>
                <a:latin typeface="Arial"/>
              </a:rPr>
              <a:t>Publish performance with and without missingness features so the residual contribution is visible and defensible.</a:t>
            </a:r>
          </a:p>
        </p:txBody>
      </p:sp>
      <p:sp>
        <p:nvSpPr>
          <p:cNvPr id="15" name="TextBox 14"/>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This is the class of failure that survives peer review and dies in a hospital. Finding it in-house is the point of the audit layer.</a:t>
            </a:r>
          </a:p>
        </p:txBody>
      </p:sp>
    </p:spTree>
    <p:extLst>
      <p:ext uri="{BB962C8B-B14F-4D97-AF65-F5344CB8AC3E}">
        <p14:creationId xmlns:p14="http://schemas.microsoft.com/office/powerpoint/2010/main" val="96971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Surge: clinical severity and scheduling priority stay separate</a:t>
            </a:r>
            <a:endParaRPr lang="en-IN" sz="2000"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65760" y="1115568"/>
            <a:ext cx="7223760" cy="365760"/>
          </a:xfrm>
          <a:prstGeom prst="rect">
            <a:avLst/>
          </a:prstGeom>
          <a:noFill/>
        </p:spPr>
        <p:txBody>
          <a:bodyPr wrap="square" lIns="0" rIns="0" tIns="0" bIns="0" anchor="t">
            <a:spAutoFit/>
          </a:bodyPr>
          <a:lstStyle/>
          <a:p>
            <a:pPr algn="l">
              <a:lnSpc>
                <a:spcPct val="112000"/>
              </a:lnSpc>
              <a:spcAft>
                <a:spcPts val="0"/>
              </a:spcAft>
            </a:pPr>
            <a:r>
              <a:rPr sz="1300" b="0">
                <a:solidFill>
                  <a:srgbClr val="1C1C22"/>
                </a:solidFill>
                <a:latin typeface="Arial"/>
              </a:rPr>
              <a:t>Operational load never touches the clinical path. Surge state is derived from arrivals and queue depth only, never from a patient's vitals, symptoms or band.</a:t>
            </a:r>
          </a:p>
        </p:txBody>
      </p:sp>
      <p:sp>
        <p:nvSpPr>
          <p:cNvPr id="6" name="Rounded Rectangle 5"/>
          <p:cNvSpPr/>
          <p:nvPr/>
        </p:nvSpPr>
        <p:spPr>
          <a:xfrm>
            <a:off x="365760" y="1645919"/>
            <a:ext cx="2304288" cy="93268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2"/>
            <a:ext cx="1051560" cy="274320"/>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NORMAL</a:t>
            </a:r>
          </a:p>
        </p:txBody>
      </p:sp>
      <p:sp>
        <p:nvSpPr>
          <p:cNvPr id="8" name="TextBox 7"/>
          <p:cNvSpPr txBox="1"/>
          <p:nvPr/>
        </p:nvSpPr>
        <p:spPr>
          <a:xfrm>
            <a:off x="566928" y="2194560"/>
            <a:ext cx="1920240" cy="274320"/>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 1.25x baseline arrivals</a:t>
            </a:r>
          </a:p>
        </p:txBody>
      </p:sp>
      <p:sp>
        <p:nvSpPr>
          <p:cNvPr id="9" name="Rounded Rectangle 8"/>
          <p:cNvSpPr/>
          <p:nvPr/>
        </p:nvSpPr>
        <p:spPr>
          <a:xfrm>
            <a:off x="2798064" y="1645919"/>
            <a:ext cx="2304288" cy="93268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999232" y="1810512"/>
            <a:ext cx="1051560" cy="274320"/>
          </a:xfrm>
          <a:prstGeom prst="roundRect">
            <a:avLst>
              <a:gd name="adj" fmla="val 25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SURGE</a:t>
            </a:r>
          </a:p>
        </p:txBody>
      </p:sp>
      <p:sp>
        <p:nvSpPr>
          <p:cNvPr id="11" name="TextBox 10"/>
          <p:cNvSpPr txBox="1"/>
          <p:nvPr/>
        </p:nvSpPr>
        <p:spPr>
          <a:xfrm>
            <a:off x="2999232" y="2194560"/>
            <a:ext cx="1920240" cy="274320"/>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1.25x to 2x baseline</a:t>
            </a:r>
          </a:p>
        </p:txBody>
      </p:sp>
      <p:sp>
        <p:nvSpPr>
          <p:cNvPr id="12" name="Rounded Rectangle 11"/>
          <p:cNvSpPr/>
          <p:nvPr/>
        </p:nvSpPr>
        <p:spPr>
          <a:xfrm>
            <a:off x="5230368" y="1645919"/>
            <a:ext cx="2304288" cy="932688"/>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431536" y="1810512"/>
            <a:ext cx="1051560" cy="274320"/>
          </a:xfrm>
          <a:prstGeom prst="roundRect">
            <a:avLst>
              <a:gd name="adj" fmla="val 25000"/>
            </a:avLst>
          </a:prstGeom>
          <a:solidFill>
            <a:srgbClr val="B00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CRISIS</a:t>
            </a:r>
          </a:p>
        </p:txBody>
      </p:sp>
      <p:sp>
        <p:nvSpPr>
          <p:cNvPr id="14" name="TextBox 13"/>
          <p:cNvSpPr txBox="1"/>
          <p:nvPr/>
        </p:nvSpPr>
        <p:spPr>
          <a:xfrm>
            <a:off x="5431536" y="2194560"/>
            <a:ext cx="1920240" cy="274320"/>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above 2x baseline</a:t>
            </a:r>
          </a:p>
        </p:txBody>
      </p:sp>
      <p:sp>
        <p:nvSpPr>
          <p:cNvPr id="15" name="Rounded Rectangle 14"/>
          <p:cNvSpPr/>
          <p:nvPr/>
        </p:nvSpPr>
        <p:spPr>
          <a:xfrm>
            <a:off x="365760" y="2779776"/>
            <a:ext cx="7223760" cy="1874519"/>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1792" y="2962656"/>
            <a:ext cx="6720840" cy="1554480"/>
          </a:xfrm>
          <a:prstGeom prst="rect">
            <a:avLst/>
          </a:prstGeom>
          <a:noFill/>
        </p:spPr>
        <p:txBody>
          <a:bodyPr wrap="square" lIns="0" rIns="0" tIns="0" bIns="0" anchor="t">
            <a:spAutoFit/>
          </a:bodyPr>
          <a:lstStyle/>
          <a:p>
            <a:pPr algn="l">
              <a:lnSpc>
                <a:spcPct val="112000"/>
              </a:lnSpc>
              <a:spcAft>
                <a:spcPts val="600"/>
              </a:spcAft>
            </a:pPr>
            <a:r>
              <a:rPr sz="1350" b="1">
                <a:solidFill>
                  <a:srgbClr val="6A00A8"/>
                </a:solidFill>
                <a:latin typeface="Arial"/>
              </a:rPr>
              <a:t>What the simulation actually showed</a:t>
            </a:r>
          </a:p>
          <a:p>
            <a:pPr algn="l">
              <a:lnSpc>
                <a:spcPct val="112000"/>
              </a:lnSpc>
              <a:spcAft>
                <a:spcPts val="600"/>
              </a:spcAft>
            </a:pPr>
            <a:r>
              <a:rPr sz="1200" b="0">
                <a:solidFill>
                  <a:srgbClr val="1C1C22"/>
                </a:solidFill>
                <a:latin typeface="Arial"/>
              </a:rPr>
              <a:t>Under sustained 3x load with four clinicians, pure severity-first ordering starved low-acuity patients: 46 of 160 arrivals were seen, against 89 under FIFO and 75 under a wait-decay hybrid.</a:t>
            </a:r>
          </a:p>
          <a:p>
            <a:pPr algn="l">
              <a:lnSpc>
                <a:spcPct val="112000"/>
              </a:lnSpc>
              <a:spcAft>
                <a:spcPts val="0"/>
              </a:spcAft>
            </a:pPr>
            <a:r>
              <a:rPr sz="1200" b="0">
                <a:solidFill>
                  <a:srgbClr val="1C1C22"/>
                </a:solidFill>
                <a:latin typeface="Arial"/>
              </a:rPr>
              <a:t>The conclusion is not to adopt FIFO. It is that no ordering rule can simultaneously always serve the sickest patient next and bound how long anyone waits once demand exceeds capacity. Ordering is the wrong lever.</a:t>
            </a:r>
          </a:p>
        </p:txBody>
      </p:sp>
      <p:sp>
        <p:nvSpPr>
          <p:cNvPr id="17" name="Rounded Rectangle 16"/>
          <p:cNvSpPr/>
          <p:nvPr/>
        </p:nvSpPr>
        <p:spPr>
          <a:xfrm>
            <a:off x="7818120" y="1645919"/>
            <a:ext cx="3831336" cy="3008376"/>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828800"/>
            <a:ext cx="3383280" cy="292608"/>
          </a:xfrm>
          <a:prstGeom prst="rect">
            <a:avLst/>
          </a:prstGeom>
          <a:noFill/>
        </p:spPr>
        <p:txBody>
          <a:bodyPr wrap="square" lIns="0" rIns="0" tIns="0" bIns="0" anchor="t">
            <a:spAutoFit/>
          </a:bodyPr>
          <a:lstStyle/>
          <a:p>
            <a:pPr algn="l">
              <a:lnSpc>
                <a:spcPct val="112000"/>
              </a:lnSpc>
              <a:spcAft>
                <a:spcPts val="0"/>
              </a:spcAft>
            </a:pPr>
            <a:r>
              <a:rPr sz="1350" b="1">
                <a:solidFill>
                  <a:srgbClr val="6A00A8"/>
                </a:solidFill>
                <a:latin typeface="Arial"/>
              </a:rPr>
              <a:t>Safe-wait ceilings</a:t>
            </a:r>
          </a:p>
        </p:txBody>
      </p:sp>
      <p:sp>
        <p:nvSpPr>
          <p:cNvPr id="19" name="TextBox 18"/>
          <p:cNvSpPr txBox="1"/>
          <p:nvPr/>
        </p:nvSpPr>
        <p:spPr>
          <a:xfrm>
            <a:off x="8046720" y="2231136"/>
            <a:ext cx="1645920" cy="237744"/>
          </a:xfrm>
          <a:prstGeom prst="rect">
            <a:avLst/>
          </a:prstGeom>
          <a:noFill/>
        </p:spPr>
        <p:txBody>
          <a:bodyPr wrap="square" lIns="0" rIns="0" tIns="0" bIns="0" anchor="t">
            <a:spAutoFit/>
          </a:bodyPr>
          <a:lstStyle/>
          <a:p>
            <a:pPr algn="l">
              <a:lnSpc>
                <a:spcPct val="112000"/>
              </a:lnSpc>
              <a:spcAft>
                <a:spcPts val="0"/>
              </a:spcAft>
            </a:pPr>
            <a:r>
              <a:rPr sz="1150" b="1">
                <a:solidFill>
                  <a:srgbClr val="1C1C22"/>
                </a:solidFill>
                <a:latin typeface="Arial"/>
              </a:rPr>
              <a:t>Band 1</a:t>
            </a:r>
          </a:p>
        </p:txBody>
      </p:sp>
      <p:sp>
        <p:nvSpPr>
          <p:cNvPr id="20" name="TextBox 19"/>
          <p:cNvSpPr txBox="1"/>
          <p:nvPr/>
        </p:nvSpPr>
        <p:spPr>
          <a:xfrm>
            <a:off x="9966960" y="2231136"/>
            <a:ext cx="1463040" cy="237744"/>
          </a:xfrm>
          <a:prstGeom prst="rect">
            <a:avLst/>
          </a:prstGeom>
          <a:noFill/>
        </p:spPr>
        <p:txBody>
          <a:bodyPr wrap="square" lIns="0" rIns="0" tIns="0" bIns="0" anchor="t">
            <a:spAutoFit/>
          </a:bodyPr>
          <a:lstStyle/>
          <a:p>
            <a:pPr algn="r">
              <a:lnSpc>
                <a:spcPct val="112000"/>
              </a:lnSpc>
              <a:spcAft>
                <a:spcPts val="0"/>
              </a:spcAft>
            </a:pPr>
            <a:r>
              <a:rPr sz="1150" b="0">
                <a:solidFill>
                  <a:srgbClr val="A100FF"/>
                </a:solidFill>
                <a:latin typeface="Arial"/>
              </a:rPr>
              <a:t>5 min</a:t>
            </a:r>
          </a:p>
        </p:txBody>
      </p:sp>
      <p:sp>
        <p:nvSpPr>
          <p:cNvPr id="21" name="TextBox 20"/>
          <p:cNvSpPr txBox="1"/>
          <p:nvPr/>
        </p:nvSpPr>
        <p:spPr>
          <a:xfrm>
            <a:off x="8046720" y="2596896"/>
            <a:ext cx="1645920" cy="237744"/>
          </a:xfrm>
          <a:prstGeom prst="rect">
            <a:avLst/>
          </a:prstGeom>
          <a:noFill/>
        </p:spPr>
        <p:txBody>
          <a:bodyPr wrap="square" lIns="0" rIns="0" tIns="0" bIns="0" anchor="t">
            <a:spAutoFit/>
          </a:bodyPr>
          <a:lstStyle/>
          <a:p>
            <a:pPr algn="l">
              <a:lnSpc>
                <a:spcPct val="112000"/>
              </a:lnSpc>
              <a:spcAft>
                <a:spcPts val="0"/>
              </a:spcAft>
            </a:pPr>
            <a:r>
              <a:rPr sz="1150" b="1">
                <a:solidFill>
                  <a:srgbClr val="1C1C22"/>
                </a:solidFill>
                <a:latin typeface="Arial"/>
              </a:rPr>
              <a:t>Band 2</a:t>
            </a:r>
          </a:p>
        </p:txBody>
      </p:sp>
      <p:sp>
        <p:nvSpPr>
          <p:cNvPr id="22" name="TextBox 21"/>
          <p:cNvSpPr txBox="1"/>
          <p:nvPr/>
        </p:nvSpPr>
        <p:spPr>
          <a:xfrm>
            <a:off x="9966960" y="2596896"/>
            <a:ext cx="1463040" cy="237744"/>
          </a:xfrm>
          <a:prstGeom prst="rect">
            <a:avLst/>
          </a:prstGeom>
          <a:noFill/>
        </p:spPr>
        <p:txBody>
          <a:bodyPr wrap="square" lIns="0" rIns="0" tIns="0" bIns="0" anchor="t">
            <a:spAutoFit/>
          </a:bodyPr>
          <a:lstStyle/>
          <a:p>
            <a:pPr algn="r">
              <a:lnSpc>
                <a:spcPct val="112000"/>
              </a:lnSpc>
              <a:spcAft>
                <a:spcPts val="0"/>
              </a:spcAft>
            </a:pPr>
            <a:r>
              <a:rPr sz="1150" b="0">
                <a:solidFill>
                  <a:srgbClr val="A100FF"/>
                </a:solidFill>
                <a:latin typeface="Arial"/>
              </a:rPr>
              <a:t>10 min</a:t>
            </a:r>
          </a:p>
        </p:txBody>
      </p:sp>
      <p:sp>
        <p:nvSpPr>
          <p:cNvPr id="23" name="TextBox 22"/>
          <p:cNvSpPr txBox="1"/>
          <p:nvPr/>
        </p:nvSpPr>
        <p:spPr>
          <a:xfrm>
            <a:off x="8046720" y="2962656"/>
            <a:ext cx="1645920" cy="237744"/>
          </a:xfrm>
          <a:prstGeom prst="rect">
            <a:avLst/>
          </a:prstGeom>
          <a:noFill/>
        </p:spPr>
        <p:txBody>
          <a:bodyPr wrap="square" lIns="0" rIns="0" tIns="0" bIns="0" anchor="t">
            <a:spAutoFit/>
          </a:bodyPr>
          <a:lstStyle/>
          <a:p>
            <a:pPr algn="l">
              <a:lnSpc>
                <a:spcPct val="112000"/>
              </a:lnSpc>
              <a:spcAft>
                <a:spcPts val="0"/>
              </a:spcAft>
            </a:pPr>
            <a:r>
              <a:rPr sz="1150" b="1">
                <a:solidFill>
                  <a:srgbClr val="1C1C22"/>
                </a:solidFill>
                <a:latin typeface="Arial"/>
              </a:rPr>
              <a:t>Band 3</a:t>
            </a:r>
          </a:p>
        </p:txBody>
      </p:sp>
      <p:sp>
        <p:nvSpPr>
          <p:cNvPr id="24" name="TextBox 23"/>
          <p:cNvSpPr txBox="1"/>
          <p:nvPr/>
        </p:nvSpPr>
        <p:spPr>
          <a:xfrm>
            <a:off x="9966960" y="2962656"/>
            <a:ext cx="1463040" cy="237744"/>
          </a:xfrm>
          <a:prstGeom prst="rect">
            <a:avLst/>
          </a:prstGeom>
          <a:noFill/>
        </p:spPr>
        <p:txBody>
          <a:bodyPr wrap="square" lIns="0" rIns="0" tIns="0" bIns="0" anchor="t">
            <a:spAutoFit/>
          </a:bodyPr>
          <a:lstStyle/>
          <a:p>
            <a:pPr algn="r">
              <a:lnSpc>
                <a:spcPct val="112000"/>
              </a:lnSpc>
              <a:spcAft>
                <a:spcPts val="0"/>
              </a:spcAft>
            </a:pPr>
            <a:r>
              <a:rPr sz="1150" b="0">
                <a:solidFill>
                  <a:srgbClr val="A100FF"/>
                </a:solidFill>
                <a:latin typeface="Arial"/>
              </a:rPr>
              <a:t>30 min</a:t>
            </a:r>
          </a:p>
        </p:txBody>
      </p:sp>
      <p:sp>
        <p:nvSpPr>
          <p:cNvPr id="25" name="TextBox 24"/>
          <p:cNvSpPr txBox="1"/>
          <p:nvPr/>
        </p:nvSpPr>
        <p:spPr>
          <a:xfrm>
            <a:off x="8046720" y="3328415"/>
            <a:ext cx="1645920" cy="237744"/>
          </a:xfrm>
          <a:prstGeom prst="rect">
            <a:avLst/>
          </a:prstGeom>
          <a:noFill/>
        </p:spPr>
        <p:txBody>
          <a:bodyPr wrap="square" lIns="0" rIns="0" tIns="0" bIns="0" anchor="t">
            <a:spAutoFit/>
          </a:bodyPr>
          <a:lstStyle/>
          <a:p>
            <a:pPr algn="l">
              <a:lnSpc>
                <a:spcPct val="112000"/>
              </a:lnSpc>
              <a:spcAft>
                <a:spcPts val="0"/>
              </a:spcAft>
            </a:pPr>
            <a:r>
              <a:rPr sz="1150" b="1">
                <a:solidFill>
                  <a:srgbClr val="1C1C22"/>
                </a:solidFill>
                <a:latin typeface="Arial"/>
              </a:rPr>
              <a:t>Band 4</a:t>
            </a:r>
          </a:p>
        </p:txBody>
      </p:sp>
      <p:sp>
        <p:nvSpPr>
          <p:cNvPr id="26" name="TextBox 25"/>
          <p:cNvSpPr txBox="1"/>
          <p:nvPr/>
        </p:nvSpPr>
        <p:spPr>
          <a:xfrm>
            <a:off x="9966960" y="3328415"/>
            <a:ext cx="1463040" cy="237744"/>
          </a:xfrm>
          <a:prstGeom prst="rect">
            <a:avLst/>
          </a:prstGeom>
          <a:noFill/>
        </p:spPr>
        <p:txBody>
          <a:bodyPr wrap="square" lIns="0" rIns="0" tIns="0" bIns="0" anchor="t">
            <a:spAutoFit/>
          </a:bodyPr>
          <a:lstStyle/>
          <a:p>
            <a:pPr algn="r">
              <a:lnSpc>
                <a:spcPct val="112000"/>
              </a:lnSpc>
              <a:spcAft>
                <a:spcPts val="0"/>
              </a:spcAft>
            </a:pPr>
            <a:r>
              <a:rPr sz="1150" b="0">
                <a:solidFill>
                  <a:srgbClr val="A100FF"/>
                </a:solidFill>
                <a:latin typeface="Arial"/>
              </a:rPr>
              <a:t>60 min</a:t>
            </a:r>
          </a:p>
        </p:txBody>
      </p:sp>
      <p:sp>
        <p:nvSpPr>
          <p:cNvPr id="27" name="TextBox 26"/>
          <p:cNvSpPr txBox="1"/>
          <p:nvPr/>
        </p:nvSpPr>
        <p:spPr>
          <a:xfrm>
            <a:off x="8046720" y="3694176"/>
            <a:ext cx="1645920" cy="237744"/>
          </a:xfrm>
          <a:prstGeom prst="rect">
            <a:avLst/>
          </a:prstGeom>
          <a:noFill/>
        </p:spPr>
        <p:txBody>
          <a:bodyPr wrap="square" lIns="0" rIns="0" tIns="0" bIns="0" anchor="t">
            <a:spAutoFit/>
          </a:bodyPr>
          <a:lstStyle/>
          <a:p>
            <a:pPr algn="l">
              <a:lnSpc>
                <a:spcPct val="112000"/>
              </a:lnSpc>
              <a:spcAft>
                <a:spcPts val="0"/>
              </a:spcAft>
            </a:pPr>
            <a:r>
              <a:rPr sz="1150" b="1">
                <a:solidFill>
                  <a:srgbClr val="1C1C22"/>
                </a:solidFill>
                <a:latin typeface="Arial"/>
              </a:rPr>
              <a:t>Band 5</a:t>
            </a:r>
          </a:p>
        </p:txBody>
      </p:sp>
      <p:sp>
        <p:nvSpPr>
          <p:cNvPr id="28" name="TextBox 27"/>
          <p:cNvSpPr txBox="1"/>
          <p:nvPr/>
        </p:nvSpPr>
        <p:spPr>
          <a:xfrm>
            <a:off x="9966960" y="3694176"/>
            <a:ext cx="1463040" cy="237744"/>
          </a:xfrm>
          <a:prstGeom prst="rect">
            <a:avLst/>
          </a:prstGeom>
          <a:noFill/>
        </p:spPr>
        <p:txBody>
          <a:bodyPr wrap="square" lIns="0" rIns="0" tIns="0" bIns="0" anchor="t">
            <a:spAutoFit/>
          </a:bodyPr>
          <a:lstStyle/>
          <a:p>
            <a:pPr algn="r">
              <a:lnSpc>
                <a:spcPct val="112000"/>
              </a:lnSpc>
              <a:spcAft>
                <a:spcPts val="0"/>
              </a:spcAft>
            </a:pPr>
            <a:r>
              <a:rPr sz="1150" b="0">
                <a:solidFill>
                  <a:srgbClr val="A100FF"/>
                </a:solidFill>
                <a:latin typeface="Arial"/>
              </a:rPr>
              <a:t>120 min</a:t>
            </a:r>
          </a:p>
        </p:txBody>
      </p:sp>
      <p:sp>
        <p:nvSpPr>
          <p:cNvPr id="29" name="TextBox 28"/>
          <p:cNvSpPr txBox="1"/>
          <p:nvPr/>
        </p:nvSpPr>
        <p:spPr>
          <a:xfrm>
            <a:off x="8046720" y="4151376"/>
            <a:ext cx="3383280" cy="640080"/>
          </a:xfrm>
          <a:prstGeom prst="rect">
            <a:avLst/>
          </a:prstGeom>
          <a:noFill/>
        </p:spPr>
        <p:txBody>
          <a:bodyPr wrap="square" lIns="0" rIns="0" tIns="0" bIns="0" anchor="t">
            <a:spAutoFit/>
          </a:bodyPr>
          <a:lstStyle/>
          <a:p>
            <a:pPr algn="l">
              <a:lnSpc>
                <a:spcPct val="112000"/>
              </a:lnSpc>
              <a:spcAft>
                <a:spcPts val="0"/>
              </a:spcAft>
            </a:pPr>
            <a:r>
              <a:rPr sz="1100" b="0">
                <a:solidFill>
                  <a:srgbClr val="5F5F70"/>
                </a:solidFill>
                <a:latin typeface="Arial"/>
              </a:rPr>
              <a:t>Breaching a ceiling raises a persisted flag and forces reassessment. That, not queue maths, is the backstop against starvation.</a:t>
            </a:r>
          </a:p>
        </p:txBody>
      </p:sp>
      <p:sp>
        <p:nvSpPr>
          <p:cNvPr id="30" name="Rounded Rectangle 29"/>
          <p:cNvSpPr/>
          <p:nvPr/>
        </p:nvSpPr>
        <p:spPr>
          <a:xfrm>
            <a:off x="365760" y="4864607"/>
            <a:ext cx="11283696" cy="713232"/>
          </a:xfrm>
          <a:prstGeom prst="roundRect">
            <a:avLst>
              <a:gd name="adj" fmla="val 5000"/>
            </a:avLst>
          </a:prstGeom>
          <a:solidFill>
            <a:srgbClr val="F2FBF5"/>
          </a:solidFill>
          <a:ln w="12700">
            <a:solidFill>
              <a:srgbClr val="007D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5010912"/>
            <a:ext cx="10698480" cy="45720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Design consequence: the product sells capacity honesty. It tells an administrator when the department is past the point where any triage policy can protect patients. That is a staffing decision, not an algorithm one.</a:t>
            </a:r>
          </a:p>
        </p:txBody>
      </p:sp>
    </p:spTree>
    <p:extLst>
      <p:ext uri="{BB962C8B-B14F-4D97-AF65-F5344CB8AC3E}">
        <p14:creationId xmlns:p14="http://schemas.microsoft.com/office/powerpoint/2010/main" val="969716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What ships today</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6128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03504" y="138074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7" name="TextBox 6"/>
          <p:cNvSpPr txBox="1"/>
          <p:nvPr/>
        </p:nvSpPr>
        <p:spPr>
          <a:xfrm>
            <a:off x="603504" y="1911095"/>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Live scoring service</a:t>
            </a:r>
          </a:p>
        </p:txBody>
      </p:sp>
      <p:sp>
        <p:nvSpPr>
          <p:cNvPr id="8" name="TextBox 7"/>
          <p:cNvSpPr txBox="1"/>
          <p:nvPr/>
        </p:nvSpPr>
        <p:spPr>
          <a:xfrm>
            <a:off x="603504" y="229514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FastAPI service exposing triage, override, queue, disposition, audit and model-status endpoints. Real model and gate on every call, not a replay of precomputed results.</a:t>
            </a:r>
          </a:p>
        </p:txBody>
      </p:sp>
      <p:sp>
        <p:nvSpPr>
          <p:cNvPr id="9" name="Rounded Rectangle 8"/>
          <p:cNvSpPr/>
          <p:nvPr/>
        </p:nvSpPr>
        <p:spPr>
          <a:xfrm>
            <a:off x="4206240" y="116128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43984" y="138074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1" name="TextBox 10"/>
          <p:cNvSpPr txBox="1"/>
          <p:nvPr/>
        </p:nvSpPr>
        <p:spPr>
          <a:xfrm>
            <a:off x="4443984" y="1911095"/>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Clinician board</a:t>
            </a:r>
          </a:p>
        </p:txBody>
      </p:sp>
      <p:sp>
        <p:nvSpPr>
          <p:cNvPr id="12" name="TextBox 11"/>
          <p:cNvSpPr txBox="1"/>
          <p:nvPr/>
        </p:nvSpPr>
        <p:spPr>
          <a:xfrm>
            <a:off x="4443984" y="229514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React triage board with band-coloured rows, completeness badge, model band versus gate-escalated band, SHAP explanation, gate reasoning and an override control that refuses an unexplained downgrade.</a:t>
            </a:r>
          </a:p>
        </p:txBody>
      </p:sp>
      <p:sp>
        <p:nvSpPr>
          <p:cNvPr id="13" name="Rounded Rectangle 12"/>
          <p:cNvSpPr/>
          <p:nvPr/>
        </p:nvSpPr>
        <p:spPr>
          <a:xfrm>
            <a:off x="8046720" y="116128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84464" y="138074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5" name="TextBox 14"/>
          <p:cNvSpPr txBox="1"/>
          <p:nvPr/>
        </p:nvSpPr>
        <p:spPr>
          <a:xfrm>
            <a:off x="8284464" y="1911095"/>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Model artifacts</a:t>
            </a:r>
          </a:p>
        </p:txBody>
      </p:sp>
      <p:sp>
        <p:nvSpPr>
          <p:cNvPr id="16" name="TextBox 15"/>
          <p:cNvSpPr txBox="1"/>
          <p:nvPr/>
        </p:nvSpPr>
        <p:spPr>
          <a:xfrm>
            <a:off x="8284464" y="229514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Calibrated critical-risk classifier, severity regressor, pinned feature schema, and the training run that produced them with cross-validated metrics.</a:t>
            </a:r>
          </a:p>
        </p:txBody>
      </p:sp>
      <p:sp>
        <p:nvSpPr>
          <p:cNvPr id="17" name="Rounded Rectangle 16"/>
          <p:cNvSpPr/>
          <p:nvPr/>
        </p:nvSpPr>
        <p:spPr>
          <a:xfrm>
            <a:off x="365760" y="349300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03504" y="371246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19" name="TextBox 18"/>
          <p:cNvSpPr txBox="1"/>
          <p:nvPr/>
        </p:nvSpPr>
        <p:spPr>
          <a:xfrm>
            <a:off x="603504" y="4242816"/>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Audit store</a:t>
            </a:r>
          </a:p>
        </p:txBody>
      </p:sp>
      <p:sp>
        <p:nvSpPr>
          <p:cNvPr id="20" name="TextBox 19"/>
          <p:cNvSpPr txBox="1"/>
          <p:nvPr/>
        </p:nvSpPr>
        <p:spPr>
          <a:xfrm>
            <a:off x="603504" y="462686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Append-only record per decision: input and feature snapshots, model, calibration and schema versions, gate triggers, extraction backend, override reason, fallback status.</a:t>
            </a:r>
          </a:p>
        </p:txBody>
      </p:sp>
      <p:sp>
        <p:nvSpPr>
          <p:cNvPr id="21" name="Rounded Rectangle 20"/>
          <p:cNvSpPr/>
          <p:nvPr/>
        </p:nvSpPr>
        <p:spPr>
          <a:xfrm>
            <a:off x="4206240" y="349300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443984" y="371246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5</a:t>
            </a:r>
          </a:p>
        </p:txBody>
      </p:sp>
      <p:sp>
        <p:nvSpPr>
          <p:cNvPr id="23" name="TextBox 22"/>
          <p:cNvSpPr txBox="1"/>
          <p:nvPr/>
        </p:nvSpPr>
        <p:spPr>
          <a:xfrm>
            <a:off x="4443984" y="4242816"/>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Surge console</a:t>
            </a:r>
          </a:p>
        </p:txBody>
      </p:sp>
      <p:sp>
        <p:nvSpPr>
          <p:cNvPr id="24" name="TextBox 23"/>
          <p:cNvSpPr txBox="1"/>
          <p:nvPr/>
        </p:nvSpPr>
        <p:spPr>
          <a:xfrm>
            <a:off x="4443984" y="462686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Live operational state from real arrivals plus an offline what-if simulator across three scheduling policies.</a:t>
            </a:r>
          </a:p>
        </p:txBody>
      </p:sp>
      <p:sp>
        <p:nvSpPr>
          <p:cNvPr id="25" name="Rounded Rectangle 24"/>
          <p:cNvSpPr/>
          <p:nvPr/>
        </p:nvSpPr>
        <p:spPr>
          <a:xfrm>
            <a:off x="8046720" y="3493008"/>
            <a:ext cx="3602736" cy="2148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284464" y="3712464"/>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6</a:t>
            </a:r>
          </a:p>
        </p:txBody>
      </p:sp>
      <p:sp>
        <p:nvSpPr>
          <p:cNvPr id="27" name="TextBox 26"/>
          <p:cNvSpPr txBox="1"/>
          <p:nvPr/>
        </p:nvSpPr>
        <p:spPr>
          <a:xfrm>
            <a:off x="8284464" y="4242816"/>
            <a:ext cx="3108960" cy="310896"/>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Test suite</a:t>
            </a:r>
          </a:p>
        </p:txBody>
      </p:sp>
      <p:sp>
        <p:nvSpPr>
          <p:cNvPr id="28" name="TextBox 27"/>
          <p:cNvSpPr txBox="1"/>
          <p:nvPr/>
        </p:nvSpPr>
        <p:spPr>
          <a:xfrm>
            <a:off x="8284464" y="4626864"/>
            <a:ext cx="3108960" cy="868680"/>
          </a:xfrm>
          <a:prstGeom prst="rect">
            <a:avLst/>
          </a:prstGeom>
          <a:noFill/>
        </p:spPr>
        <p:txBody>
          <a:bodyPr wrap="square" lIns="0" rIns="0" tIns="0" bIns="0" anchor="t">
            <a:spAutoFit/>
          </a:bodyPr>
          <a:lstStyle/>
          <a:p>
            <a:pPr algn="l">
              <a:lnSpc>
                <a:spcPct val="112000"/>
              </a:lnSpc>
              <a:spcAft>
                <a:spcPts val="0"/>
              </a:spcAft>
            </a:pPr>
            <a:r>
              <a:rPr sz="1080" b="0">
                <a:solidFill>
                  <a:srgbClr val="1C1C22"/>
                </a:solidFill>
                <a:latin typeface="Arial"/>
              </a:rPr>
              <a:t>Roughly 60 automated tests covering the escalation-only invariant, extraction edge cases, schema and validation failures, breach flagging and reassessment lifecycle.</a:t>
            </a:r>
          </a:p>
        </p:txBody>
      </p:sp>
      <p:sp>
        <p:nvSpPr>
          <p:cNvPr id="29" name="TextBox 28"/>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Free-text extraction runs against a hosted language model when a key is present and falls back to a negation-aware deterministic extractor otherwise; the high-risk phrase scan always runs on both paths.</a:t>
            </a:r>
          </a:p>
        </p:txBody>
      </p:sp>
    </p:spTree>
    <p:extLst>
      <p:ext uri="{BB962C8B-B14F-4D97-AF65-F5344CB8AC3E}">
        <p14:creationId xmlns:p14="http://schemas.microsoft.com/office/powerpoint/2010/main" val="969716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Market opportunity</a:t>
            </a:r>
            <a:endParaRPr lang="en-IN" sz="2000" dirty="0">
              <a:solidFill>
                <a:schemeClr val="bg1"/>
              </a:solidFill>
              <a:latin typeface="Graphik" panose="020B0503030202060203" pitchFamily="34" charset="0"/>
              <a:cs typeface="Arial" panose="020B0604020202020204" pitchFamily="34" charset="0"/>
            </a:endParaRPr>
          </a:p>
        </p:txBody>
      </p:sp>
      <p:graphicFrame>
        <p:nvGraphicFramePr>
          <p:cNvPr id="5" name="Chart 4"/>
          <p:cNvGraphicFramePr>
            <a:graphicFrameLocks noGrp="1"/>
          </p:cNvGraphicFramePr>
          <p:nvPr/>
        </p:nvGraphicFramePr>
        <p:xfrm>
          <a:off x="365760" y="1207008"/>
          <a:ext cx="5760720" cy="3246120"/>
        </p:xfrm>
        <a:graphic>
          <a:graphicData uri="http://schemas.openxmlformats.org/drawingml/2006/chart">
            <c:chart xmlns:c="http://schemas.openxmlformats.org/drawingml/2006/chart" r:id="rId2"/>
          </a:graphicData>
        </a:graphic>
      </p:graphicFrame>
      <p:sp>
        <p:nvSpPr>
          <p:cNvPr id="6" name="Rounded Rectangle 5"/>
          <p:cNvSpPr/>
          <p:nvPr/>
        </p:nvSpPr>
        <p:spPr>
          <a:xfrm>
            <a:off x="6446520" y="1207008"/>
            <a:ext cx="5202936" cy="1033271"/>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656832" y="1389888"/>
            <a:ext cx="713232" cy="292608"/>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TAM</a:t>
            </a:r>
          </a:p>
        </p:txBody>
      </p:sp>
      <p:sp>
        <p:nvSpPr>
          <p:cNvPr id="8" name="TextBox 7"/>
          <p:cNvSpPr txBox="1"/>
          <p:nvPr/>
        </p:nvSpPr>
        <p:spPr>
          <a:xfrm>
            <a:off x="7516368" y="1389888"/>
            <a:ext cx="3931920" cy="274320"/>
          </a:xfrm>
          <a:prstGeom prst="rect">
            <a:avLst/>
          </a:prstGeom>
          <a:noFill/>
        </p:spPr>
        <p:txBody>
          <a:bodyPr wrap="square" lIns="0" rIns="0" tIns="0" bIns="0" anchor="t">
            <a:spAutoFit/>
          </a:bodyPr>
          <a:lstStyle/>
          <a:p>
            <a:pPr algn="l">
              <a:lnSpc>
                <a:spcPct val="112000"/>
              </a:lnSpc>
              <a:spcAft>
                <a:spcPts val="0"/>
              </a:spcAft>
            </a:pPr>
            <a:r>
              <a:rPr sz="1400" b="1">
                <a:solidFill>
                  <a:srgbClr val="A100FF"/>
                </a:solidFill>
                <a:latin typeface="Arial"/>
              </a:rPr>
              <a:t>$3.89B by 2030</a:t>
            </a:r>
          </a:p>
        </p:txBody>
      </p:sp>
      <p:sp>
        <p:nvSpPr>
          <p:cNvPr id="9" name="TextBox 8"/>
          <p:cNvSpPr txBox="1"/>
          <p:nvPr/>
        </p:nvSpPr>
        <p:spPr>
          <a:xfrm>
            <a:off x="7516368" y="1737360"/>
            <a:ext cx="3931920" cy="457200"/>
          </a:xfrm>
          <a:prstGeom prst="rect">
            <a:avLst/>
          </a:prstGeom>
          <a:noFill/>
        </p:spPr>
        <p:txBody>
          <a:bodyPr wrap="square" lIns="0" rIns="0" tIns="0" bIns="0" anchor="t">
            <a:spAutoFit/>
          </a:bodyPr>
          <a:lstStyle/>
          <a:p>
            <a:pPr algn="l">
              <a:lnSpc>
                <a:spcPct val="112000"/>
              </a:lnSpc>
              <a:spcAft>
                <a:spcPts val="0"/>
              </a:spcAft>
            </a:pPr>
            <a:r>
              <a:rPr sz="1030" b="0">
                <a:solidFill>
                  <a:srgbClr val="1C1C22"/>
                </a:solidFill>
                <a:latin typeface="Arial"/>
              </a:rPr>
              <a:t>Global clinical decision support, growing 9.6% a year. The AI-native subsegment grows at 15.6%, with Asia-Pacific the fastest region.</a:t>
            </a:r>
          </a:p>
        </p:txBody>
      </p:sp>
      <p:sp>
        <p:nvSpPr>
          <p:cNvPr id="10" name="Rounded Rectangle 9"/>
          <p:cNvSpPr/>
          <p:nvPr/>
        </p:nvSpPr>
        <p:spPr>
          <a:xfrm>
            <a:off x="6446520" y="2350008"/>
            <a:ext cx="5202936" cy="1033271"/>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656832" y="2532888"/>
            <a:ext cx="713232" cy="292608"/>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SAM</a:t>
            </a:r>
          </a:p>
        </p:txBody>
      </p:sp>
      <p:sp>
        <p:nvSpPr>
          <p:cNvPr id="12" name="TextBox 11"/>
          <p:cNvSpPr txBox="1"/>
          <p:nvPr/>
        </p:nvSpPr>
        <p:spPr>
          <a:xfrm>
            <a:off x="7516368" y="2532888"/>
            <a:ext cx="3931920" cy="274320"/>
          </a:xfrm>
          <a:prstGeom prst="rect">
            <a:avLst/>
          </a:prstGeom>
          <a:noFill/>
        </p:spPr>
        <p:txBody>
          <a:bodyPr wrap="square" lIns="0" rIns="0" tIns="0" bIns="0" anchor="t">
            <a:spAutoFit/>
          </a:bodyPr>
          <a:lstStyle/>
          <a:p>
            <a:pPr algn="l">
              <a:lnSpc>
                <a:spcPct val="112000"/>
              </a:lnSpc>
              <a:spcAft>
                <a:spcPts val="0"/>
              </a:spcAft>
            </a:pPr>
            <a:r>
              <a:rPr sz="1400" b="1">
                <a:solidFill>
                  <a:srgbClr val="A100FF"/>
                </a:solidFill>
                <a:latin typeface="Arial"/>
              </a:rPr>
              <a:t>₹336 Cr in India</a:t>
            </a:r>
          </a:p>
        </p:txBody>
      </p:sp>
      <p:sp>
        <p:nvSpPr>
          <p:cNvPr id="13" name="TextBox 12"/>
          <p:cNvSpPr txBox="1"/>
          <p:nvPr/>
        </p:nvSpPr>
        <p:spPr>
          <a:xfrm>
            <a:off x="7516368" y="2880360"/>
            <a:ext cx="3931920" cy="457200"/>
          </a:xfrm>
          <a:prstGeom prst="rect">
            <a:avLst/>
          </a:prstGeom>
          <a:noFill/>
        </p:spPr>
        <p:txBody>
          <a:bodyPr wrap="square" lIns="0" rIns="0" tIns="0" bIns="0" anchor="t">
            <a:spAutoFit/>
          </a:bodyPr>
          <a:lstStyle/>
          <a:p>
            <a:pPr algn="l">
              <a:lnSpc>
                <a:spcPct val="112000"/>
              </a:lnSpc>
              <a:spcAft>
                <a:spcPts val="0"/>
              </a:spcAft>
            </a:pPr>
            <a:r>
              <a:rPr sz="1030" b="0">
                <a:solidFill>
                  <a:srgbClr val="1C1C22"/>
                </a:solidFill>
                <a:latin typeface="Arial"/>
              </a:rPr>
              <a:t>Roughly 1,200 Indian tertiary and large private emergency departments running a formal triage protocol, at mid-tier annual licence. Internal estimate.</a:t>
            </a:r>
          </a:p>
        </p:txBody>
      </p:sp>
      <p:sp>
        <p:nvSpPr>
          <p:cNvPr id="14" name="Rounded Rectangle 13"/>
          <p:cNvSpPr/>
          <p:nvPr/>
        </p:nvSpPr>
        <p:spPr>
          <a:xfrm>
            <a:off x="6446520" y="3493008"/>
            <a:ext cx="5202936" cy="1033271"/>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656832" y="3675888"/>
            <a:ext cx="713232" cy="292608"/>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SOM</a:t>
            </a:r>
          </a:p>
        </p:txBody>
      </p:sp>
      <p:sp>
        <p:nvSpPr>
          <p:cNvPr id="16" name="TextBox 15"/>
          <p:cNvSpPr txBox="1"/>
          <p:nvPr/>
        </p:nvSpPr>
        <p:spPr>
          <a:xfrm>
            <a:off x="7516368" y="3675888"/>
            <a:ext cx="3931920" cy="274320"/>
          </a:xfrm>
          <a:prstGeom prst="rect">
            <a:avLst/>
          </a:prstGeom>
          <a:noFill/>
        </p:spPr>
        <p:txBody>
          <a:bodyPr wrap="square" lIns="0" rIns="0" tIns="0" bIns="0" anchor="t">
            <a:spAutoFit/>
          </a:bodyPr>
          <a:lstStyle/>
          <a:p>
            <a:pPr algn="l">
              <a:lnSpc>
                <a:spcPct val="112000"/>
              </a:lnSpc>
              <a:spcAft>
                <a:spcPts val="0"/>
              </a:spcAft>
            </a:pPr>
            <a:r>
              <a:rPr sz="1400" b="1">
                <a:solidFill>
                  <a:srgbClr val="A100FF"/>
                </a:solidFill>
                <a:latin typeface="Arial"/>
              </a:rPr>
              <a:t>₹11 Cr ARR by year 3</a:t>
            </a:r>
          </a:p>
        </p:txBody>
      </p:sp>
      <p:sp>
        <p:nvSpPr>
          <p:cNvPr id="17" name="TextBox 16"/>
          <p:cNvSpPr txBox="1"/>
          <p:nvPr/>
        </p:nvSpPr>
        <p:spPr>
          <a:xfrm>
            <a:off x="7516368" y="4023360"/>
            <a:ext cx="3931920" cy="457200"/>
          </a:xfrm>
          <a:prstGeom prst="rect">
            <a:avLst/>
          </a:prstGeom>
          <a:noFill/>
        </p:spPr>
        <p:txBody>
          <a:bodyPr wrap="square" lIns="0" rIns="0" tIns="0" bIns="0" anchor="t">
            <a:spAutoFit/>
          </a:bodyPr>
          <a:lstStyle/>
          <a:p>
            <a:pPr algn="l">
              <a:lnSpc>
                <a:spcPct val="112000"/>
              </a:lnSpc>
              <a:spcAft>
                <a:spcPts val="0"/>
              </a:spcAft>
            </a:pPr>
            <a:r>
              <a:rPr sz="1030" b="0">
                <a:solidFill>
                  <a:srgbClr val="1C1C22"/>
                </a:solidFill>
                <a:latin typeface="Arial"/>
              </a:rPr>
              <a:t>40 sites: 8 pilot conversions in year 1, 18 in year 2, 40 by year 3. Assumes a 35% pilot-to-paid conversion rate.</a:t>
            </a:r>
          </a:p>
        </p:txBody>
      </p:sp>
      <p:sp>
        <p:nvSpPr>
          <p:cNvPr id="18" name="Rounded Rectangle 17"/>
          <p:cNvSpPr/>
          <p:nvPr/>
        </p:nvSpPr>
        <p:spPr>
          <a:xfrm>
            <a:off x="365760" y="4681728"/>
            <a:ext cx="11283696" cy="86868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846320"/>
            <a:ext cx="10698480" cy="594360"/>
          </a:xfrm>
          <a:prstGeom prst="rect">
            <a:avLst/>
          </a:prstGeom>
          <a:noFill/>
        </p:spPr>
        <p:txBody>
          <a:bodyPr wrap="square" lIns="0" rIns="0" tIns="0" bIns="0" anchor="t">
            <a:spAutoFit/>
          </a:bodyPr>
          <a:lstStyle/>
          <a:p>
            <a:pPr algn="l">
              <a:lnSpc>
                <a:spcPct val="112000"/>
              </a:lnSpc>
              <a:spcAft>
                <a:spcPts val="300"/>
              </a:spcAft>
            </a:pPr>
            <a:r>
              <a:rPr sz="1250" b="1">
                <a:solidFill>
                  <a:srgbClr val="6A00A8"/>
                </a:solidFill>
                <a:latin typeface="Arial"/>
              </a:rPr>
              <a:t>Why now</a:t>
            </a:r>
          </a:p>
          <a:p>
            <a:pPr algn="l">
              <a:lnSpc>
                <a:spcPct val="112000"/>
              </a:lnSpc>
              <a:spcAft>
                <a:spcPts val="0"/>
              </a:spcAft>
            </a:pPr>
            <a:r>
              <a:rPr sz="1180" b="0">
                <a:solidFill>
                  <a:srgbClr val="1C1C22"/>
                </a:solidFill>
                <a:latin typeface="Arial"/>
              </a:rPr>
              <a:t>Boarding and crowding have moved from an operational nuisance to a documented safety hazard with regulator attention. Hospitals are being asked to evidence triage quality, and no incumbent product produces a reconstructable record of why a band was assigned.</a:t>
            </a:r>
          </a:p>
        </p:txBody>
      </p:sp>
      <p:sp>
        <p:nvSpPr>
          <p:cNvPr id="20" name="TextBox 19"/>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Market figures: MarketsandMarkets CDSS forecast and Mordor Intelligence AI-powered CDS forecast, 2025. Third-party CDSS estimates vary widely by scope definition; India SAM and SOM are our own estimates and are unvalidated.</a:t>
            </a:r>
          </a:p>
        </p:txBody>
      </p:sp>
    </p:spTree>
    <p:extLst>
      <p:ext uri="{BB962C8B-B14F-4D97-AF65-F5344CB8AC3E}">
        <p14:creationId xmlns:p14="http://schemas.microsoft.com/office/powerpoint/2010/main" val="969716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Business model</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3611880" cy="41605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621792" y="1353312"/>
            <a:ext cx="1234440" cy="292608"/>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SHADOW</a:t>
            </a:r>
          </a:p>
        </p:txBody>
      </p:sp>
      <p:sp>
        <p:nvSpPr>
          <p:cNvPr id="7" name="TextBox 6"/>
          <p:cNvSpPr txBox="1"/>
          <p:nvPr/>
        </p:nvSpPr>
        <p:spPr>
          <a:xfrm>
            <a:off x="621792" y="1792224"/>
            <a:ext cx="3108960" cy="502920"/>
          </a:xfrm>
          <a:prstGeom prst="rect">
            <a:avLst/>
          </a:prstGeom>
          <a:noFill/>
        </p:spPr>
        <p:txBody>
          <a:bodyPr wrap="square" lIns="0" rIns="0" tIns="0" bIns="0" anchor="t">
            <a:spAutoFit/>
          </a:bodyPr>
          <a:lstStyle/>
          <a:p>
            <a:pPr algn="l">
              <a:lnSpc>
                <a:spcPct val="112000"/>
              </a:lnSpc>
              <a:spcAft>
                <a:spcPts val="0"/>
              </a:spcAft>
            </a:pPr>
            <a:r>
              <a:rPr sz="3000" b="1">
                <a:solidFill>
                  <a:srgbClr val="6A00A8"/>
                </a:solidFill>
                <a:latin typeface="Arial"/>
              </a:rPr>
              <a:t>₹10 L</a:t>
            </a:r>
          </a:p>
        </p:txBody>
      </p:sp>
      <p:sp>
        <p:nvSpPr>
          <p:cNvPr id="8" name="TextBox 7"/>
          <p:cNvSpPr txBox="1"/>
          <p:nvPr/>
        </p:nvSpPr>
        <p:spPr>
          <a:xfrm>
            <a:off x="621792" y="2340864"/>
            <a:ext cx="3108960" cy="237744"/>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per site / year</a:t>
            </a:r>
          </a:p>
        </p:txBody>
      </p:sp>
      <p:sp>
        <p:nvSpPr>
          <p:cNvPr id="9" name="Oval 8"/>
          <p:cNvSpPr/>
          <p:nvPr/>
        </p:nvSpPr>
        <p:spPr>
          <a:xfrm>
            <a:off x="640080" y="2798064"/>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10" name="TextBox 9"/>
          <p:cNvSpPr txBox="1"/>
          <p:nvPr/>
        </p:nvSpPr>
        <p:spPr>
          <a:xfrm>
            <a:off x="877824" y="2761488"/>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Runs alongside the existing triage protocol</a:t>
            </a:r>
          </a:p>
        </p:txBody>
      </p:sp>
      <p:sp>
        <p:nvSpPr>
          <p:cNvPr id="11" name="Oval 10"/>
          <p:cNvSpPr/>
          <p:nvPr/>
        </p:nvSpPr>
        <p:spPr>
          <a:xfrm>
            <a:off x="640080" y="3273552"/>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12" name="TextBox 11"/>
          <p:cNvSpPr txBox="1"/>
          <p:nvPr/>
        </p:nvSpPr>
        <p:spPr>
          <a:xfrm>
            <a:off x="877824" y="3236976"/>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No influence on live workflow</a:t>
            </a:r>
          </a:p>
        </p:txBody>
      </p:sp>
      <p:sp>
        <p:nvSpPr>
          <p:cNvPr id="13" name="Oval 12"/>
          <p:cNvSpPr/>
          <p:nvPr/>
        </p:nvSpPr>
        <p:spPr>
          <a:xfrm>
            <a:off x="640080" y="3749040"/>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14" name="TextBox 13"/>
          <p:cNvSpPr txBox="1"/>
          <p:nvPr/>
        </p:nvSpPr>
        <p:spPr>
          <a:xfrm>
            <a:off x="877824" y="3712464"/>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Up to 40,000 annual visits</a:t>
            </a:r>
          </a:p>
        </p:txBody>
      </p:sp>
      <p:sp>
        <p:nvSpPr>
          <p:cNvPr id="15" name="Oval 14"/>
          <p:cNvSpPr/>
          <p:nvPr/>
        </p:nvSpPr>
        <p:spPr>
          <a:xfrm>
            <a:off x="640080" y="4224528"/>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16" name="TextBox 15"/>
          <p:cNvSpPr txBox="1"/>
          <p:nvPr/>
        </p:nvSpPr>
        <p:spPr>
          <a:xfrm>
            <a:off x="877824" y="4187952"/>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Monthly agreement and subgroup reports</a:t>
            </a:r>
          </a:p>
        </p:txBody>
      </p:sp>
      <p:sp>
        <p:nvSpPr>
          <p:cNvPr id="17" name="Oval 16"/>
          <p:cNvSpPr/>
          <p:nvPr/>
        </p:nvSpPr>
        <p:spPr>
          <a:xfrm>
            <a:off x="640080" y="4700016"/>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18" name="TextBox 17"/>
          <p:cNvSpPr txBox="1"/>
          <p:nvPr/>
        </p:nvSpPr>
        <p:spPr>
          <a:xfrm>
            <a:off x="877824" y="4663440"/>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Purpose: earn the right to go live</a:t>
            </a:r>
          </a:p>
        </p:txBody>
      </p:sp>
      <p:sp>
        <p:nvSpPr>
          <p:cNvPr id="19" name="Rounded Rectangle 18"/>
          <p:cNvSpPr/>
          <p:nvPr/>
        </p:nvSpPr>
        <p:spPr>
          <a:xfrm>
            <a:off x="4206240" y="1115568"/>
            <a:ext cx="3611880" cy="416052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462272" y="1353312"/>
            <a:ext cx="1234440" cy="292608"/>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CLINICAL</a:t>
            </a:r>
          </a:p>
        </p:txBody>
      </p:sp>
      <p:sp>
        <p:nvSpPr>
          <p:cNvPr id="21" name="TextBox 20"/>
          <p:cNvSpPr txBox="1"/>
          <p:nvPr/>
        </p:nvSpPr>
        <p:spPr>
          <a:xfrm>
            <a:off x="4462272" y="1792224"/>
            <a:ext cx="3108960" cy="502920"/>
          </a:xfrm>
          <a:prstGeom prst="rect">
            <a:avLst/>
          </a:prstGeom>
          <a:noFill/>
        </p:spPr>
        <p:txBody>
          <a:bodyPr wrap="square" lIns="0" rIns="0" tIns="0" bIns="0" anchor="t">
            <a:spAutoFit/>
          </a:bodyPr>
          <a:lstStyle/>
          <a:p>
            <a:pPr algn="l">
              <a:lnSpc>
                <a:spcPct val="112000"/>
              </a:lnSpc>
              <a:spcAft>
                <a:spcPts val="0"/>
              </a:spcAft>
            </a:pPr>
            <a:r>
              <a:rPr sz="3000" b="1">
                <a:solidFill>
                  <a:srgbClr val="A100FF"/>
                </a:solidFill>
                <a:latin typeface="Arial"/>
              </a:rPr>
              <a:t>₹28 L</a:t>
            </a:r>
          </a:p>
        </p:txBody>
      </p:sp>
      <p:sp>
        <p:nvSpPr>
          <p:cNvPr id="22" name="TextBox 21"/>
          <p:cNvSpPr txBox="1"/>
          <p:nvPr/>
        </p:nvSpPr>
        <p:spPr>
          <a:xfrm>
            <a:off x="4462272" y="2340864"/>
            <a:ext cx="3108960" cy="237744"/>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per site / year</a:t>
            </a:r>
          </a:p>
        </p:txBody>
      </p:sp>
      <p:sp>
        <p:nvSpPr>
          <p:cNvPr id="23" name="Oval 22"/>
          <p:cNvSpPr/>
          <p:nvPr/>
        </p:nvSpPr>
        <p:spPr>
          <a:xfrm>
            <a:off x="4480560" y="2798064"/>
            <a:ext cx="109728" cy="10972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24" name="TextBox 23"/>
          <p:cNvSpPr txBox="1"/>
          <p:nvPr/>
        </p:nvSpPr>
        <p:spPr>
          <a:xfrm>
            <a:off x="4718304" y="2761488"/>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Live decision support in the triage workflow</a:t>
            </a:r>
          </a:p>
        </p:txBody>
      </p:sp>
      <p:sp>
        <p:nvSpPr>
          <p:cNvPr id="25" name="Oval 24"/>
          <p:cNvSpPr/>
          <p:nvPr/>
        </p:nvSpPr>
        <p:spPr>
          <a:xfrm>
            <a:off x="4480560" y="3273552"/>
            <a:ext cx="109728" cy="10972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26" name="TextBox 25"/>
          <p:cNvSpPr txBox="1"/>
          <p:nvPr/>
        </p:nvSpPr>
        <p:spPr>
          <a:xfrm>
            <a:off x="4718304" y="3236976"/>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EHR and ADT integration</a:t>
            </a:r>
          </a:p>
        </p:txBody>
      </p:sp>
      <p:sp>
        <p:nvSpPr>
          <p:cNvPr id="27" name="Oval 26"/>
          <p:cNvSpPr/>
          <p:nvPr/>
        </p:nvSpPr>
        <p:spPr>
          <a:xfrm>
            <a:off x="4480560" y="3749040"/>
            <a:ext cx="109728" cy="10972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28" name="TextBox 27"/>
          <p:cNvSpPr txBox="1"/>
          <p:nvPr/>
        </p:nvSpPr>
        <p:spPr>
          <a:xfrm>
            <a:off x="4718304" y="3712464"/>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Unlimited visit volume</a:t>
            </a:r>
          </a:p>
        </p:txBody>
      </p:sp>
      <p:sp>
        <p:nvSpPr>
          <p:cNvPr id="29" name="Oval 28"/>
          <p:cNvSpPr/>
          <p:nvPr/>
        </p:nvSpPr>
        <p:spPr>
          <a:xfrm>
            <a:off x="4480560" y="4224528"/>
            <a:ext cx="109728" cy="10972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0" name="TextBox 29"/>
          <p:cNvSpPr txBox="1"/>
          <p:nvPr/>
        </p:nvSpPr>
        <p:spPr>
          <a:xfrm>
            <a:off x="4718304" y="4187952"/>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Reassessment and breach monitoring</a:t>
            </a:r>
          </a:p>
        </p:txBody>
      </p:sp>
      <p:sp>
        <p:nvSpPr>
          <p:cNvPr id="31" name="Oval 30"/>
          <p:cNvSpPr/>
          <p:nvPr/>
        </p:nvSpPr>
        <p:spPr>
          <a:xfrm>
            <a:off x="4480560" y="4700016"/>
            <a:ext cx="109728" cy="10972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2" name="TextBox 31"/>
          <p:cNvSpPr txBox="1"/>
          <p:nvPr/>
        </p:nvSpPr>
        <p:spPr>
          <a:xfrm>
            <a:off x="4718304" y="4663440"/>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Quarterly calibration and drift review</a:t>
            </a:r>
          </a:p>
        </p:txBody>
      </p:sp>
      <p:sp>
        <p:nvSpPr>
          <p:cNvPr id="33" name="Rounded Rectangle 32"/>
          <p:cNvSpPr/>
          <p:nvPr/>
        </p:nvSpPr>
        <p:spPr>
          <a:xfrm>
            <a:off x="8046720" y="1115568"/>
            <a:ext cx="3611880" cy="41605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8302752" y="1353312"/>
            <a:ext cx="1234440" cy="292608"/>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00" b="1">
                <a:solidFill>
                  <a:srgbClr val="FFFFFF"/>
                </a:solidFill>
                <a:latin typeface="Arial"/>
              </a:rPr>
              <a:t>NETWORK</a:t>
            </a:r>
          </a:p>
        </p:txBody>
      </p:sp>
      <p:sp>
        <p:nvSpPr>
          <p:cNvPr id="35" name="TextBox 34"/>
          <p:cNvSpPr txBox="1"/>
          <p:nvPr/>
        </p:nvSpPr>
        <p:spPr>
          <a:xfrm>
            <a:off x="8302752" y="1792224"/>
            <a:ext cx="3108960" cy="502920"/>
          </a:xfrm>
          <a:prstGeom prst="rect">
            <a:avLst/>
          </a:prstGeom>
          <a:noFill/>
        </p:spPr>
        <p:txBody>
          <a:bodyPr wrap="square" lIns="0" rIns="0" tIns="0" bIns="0" anchor="t">
            <a:spAutoFit/>
          </a:bodyPr>
          <a:lstStyle/>
          <a:p>
            <a:pPr algn="l">
              <a:lnSpc>
                <a:spcPct val="112000"/>
              </a:lnSpc>
              <a:spcAft>
                <a:spcPts val="0"/>
              </a:spcAft>
            </a:pPr>
            <a:r>
              <a:rPr sz="3000" b="1">
                <a:solidFill>
                  <a:srgbClr val="6A00A8"/>
                </a:solidFill>
                <a:latin typeface="Arial"/>
              </a:rPr>
              <a:t>₹22 L</a:t>
            </a:r>
          </a:p>
        </p:txBody>
      </p:sp>
      <p:sp>
        <p:nvSpPr>
          <p:cNvPr id="36" name="TextBox 35"/>
          <p:cNvSpPr txBox="1"/>
          <p:nvPr/>
        </p:nvSpPr>
        <p:spPr>
          <a:xfrm>
            <a:off x="8302752" y="2340864"/>
            <a:ext cx="3108960" cy="237744"/>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per site / year, 5+ sites</a:t>
            </a:r>
          </a:p>
        </p:txBody>
      </p:sp>
      <p:sp>
        <p:nvSpPr>
          <p:cNvPr id="37" name="Oval 36"/>
          <p:cNvSpPr/>
          <p:nvPr/>
        </p:nvSpPr>
        <p:spPr>
          <a:xfrm>
            <a:off x="8321040" y="2798064"/>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38" name="TextBox 37"/>
          <p:cNvSpPr txBox="1"/>
          <p:nvPr/>
        </p:nvSpPr>
        <p:spPr>
          <a:xfrm>
            <a:off x="8558784" y="2761488"/>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Everything in Clinical</a:t>
            </a:r>
          </a:p>
        </p:txBody>
      </p:sp>
      <p:sp>
        <p:nvSpPr>
          <p:cNvPr id="39" name="Oval 38"/>
          <p:cNvSpPr/>
          <p:nvPr/>
        </p:nvSpPr>
        <p:spPr>
          <a:xfrm>
            <a:off x="8321040" y="3273552"/>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0" name="TextBox 39"/>
          <p:cNvSpPr txBox="1"/>
          <p:nvPr/>
        </p:nvSpPr>
        <p:spPr>
          <a:xfrm>
            <a:off x="8558784" y="3236976"/>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Cross-site governance dashboard</a:t>
            </a:r>
          </a:p>
        </p:txBody>
      </p:sp>
      <p:sp>
        <p:nvSpPr>
          <p:cNvPr id="41" name="Oval 40"/>
          <p:cNvSpPr/>
          <p:nvPr/>
        </p:nvSpPr>
        <p:spPr>
          <a:xfrm>
            <a:off x="8321040" y="3749040"/>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2" name="TextBox 41"/>
          <p:cNvSpPr txBox="1"/>
          <p:nvPr/>
        </p:nvSpPr>
        <p:spPr>
          <a:xfrm>
            <a:off x="8558784" y="3712464"/>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Central model version control</a:t>
            </a:r>
          </a:p>
        </p:txBody>
      </p:sp>
      <p:sp>
        <p:nvSpPr>
          <p:cNvPr id="43" name="Oval 42"/>
          <p:cNvSpPr/>
          <p:nvPr/>
        </p:nvSpPr>
        <p:spPr>
          <a:xfrm>
            <a:off x="8321040" y="4224528"/>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4" name="TextBox 43"/>
          <p:cNvSpPr txBox="1"/>
          <p:nvPr/>
        </p:nvSpPr>
        <p:spPr>
          <a:xfrm>
            <a:off x="8558784" y="4187952"/>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Site-level performance benchmarking</a:t>
            </a:r>
          </a:p>
        </p:txBody>
      </p:sp>
      <p:sp>
        <p:nvSpPr>
          <p:cNvPr id="45" name="Oval 44"/>
          <p:cNvSpPr/>
          <p:nvPr/>
        </p:nvSpPr>
        <p:spPr>
          <a:xfrm>
            <a:off x="8321040" y="4700016"/>
            <a:ext cx="109728" cy="109728"/>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6" name="TextBox 45"/>
          <p:cNvSpPr txBox="1"/>
          <p:nvPr/>
        </p:nvSpPr>
        <p:spPr>
          <a:xfrm>
            <a:off x="8558784" y="4663440"/>
            <a:ext cx="2852928" cy="438912"/>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Named clinical safety officer</a:t>
            </a:r>
          </a:p>
        </p:txBody>
      </p:sp>
      <p:sp>
        <p:nvSpPr>
          <p:cNvPr id="47" name="Rounded Rectangle 46"/>
          <p:cNvSpPr/>
          <p:nvPr/>
        </p:nvSpPr>
        <p:spPr>
          <a:xfrm>
            <a:off x="365760" y="5458968"/>
            <a:ext cx="11283696" cy="7772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5596128"/>
            <a:ext cx="10698480" cy="548640"/>
          </a:xfrm>
          <a:prstGeom prst="rect">
            <a:avLst/>
          </a:prstGeom>
          <a:noFill/>
        </p:spPr>
        <p:txBody>
          <a:bodyPr wrap="square" lIns="0" rIns="0" tIns="0" bIns="0" anchor="t">
            <a:spAutoFit/>
          </a:bodyPr>
          <a:lstStyle/>
          <a:p>
            <a:pPr algn="l">
              <a:lnSpc>
                <a:spcPct val="112000"/>
              </a:lnSpc>
              <a:spcAft>
                <a:spcPts val="300"/>
              </a:spcAft>
            </a:pPr>
            <a:r>
              <a:rPr sz="1150" b="1">
                <a:solidFill>
                  <a:srgbClr val="6A00A8"/>
                </a:solidFill>
                <a:latin typeface="Arial"/>
              </a:rPr>
              <a:t>Services layer:</a:t>
            </a:r>
          </a:p>
          <a:p>
            <a:pPr algn="l">
              <a:lnSpc>
                <a:spcPct val="112000"/>
              </a:lnSpc>
              <a:spcAft>
                <a:spcPts val="0"/>
              </a:spcAft>
            </a:pPr>
            <a:r>
              <a:rPr sz="1130" b="0">
                <a:solidFill>
                  <a:srgbClr val="1C1C22"/>
                </a:solidFill>
                <a:latin typeface="Arial"/>
              </a:rPr>
              <a:t>One-time integration and retrospective validation engagement at ₹8 L per site, covering EHR mapping, a site-specific retrospective run on de-identified historical encounters, and clinician calibration workshops. This is deliberately priced to be a gate, not a margin line. No site goes live without it.</a:t>
            </a:r>
          </a:p>
        </p:txBody>
      </p:sp>
    </p:spTree>
    <p:extLst>
      <p:ext uri="{BB962C8B-B14F-4D97-AF65-F5344CB8AC3E}">
        <p14:creationId xmlns:p14="http://schemas.microsoft.com/office/powerpoint/2010/main" val="969716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Unit economics: a 90,000-visit tertiary emergency department</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5349240" cy="4434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316736"/>
            <a:ext cx="4800600" cy="292608"/>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Modelled annual value</a:t>
            </a:r>
          </a:p>
        </p:txBody>
      </p:sp>
      <p:sp>
        <p:nvSpPr>
          <p:cNvPr id="7" name="TextBox 6"/>
          <p:cNvSpPr txBox="1"/>
          <p:nvPr/>
        </p:nvSpPr>
        <p:spPr>
          <a:xfrm>
            <a:off x="640080" y="1773936"/>
            <a:ext cx="3108960" cy="256032"/>
          </a:xfrm>
          <a:prstGeom prst="rect">
            <a:avLst/>
          </a:prstGeom>
          <a:noFill/>
        </p:spPr>
        <p:txBody>
          <a:bodyPr wrap="square" lIns="0" rIns="0" tIns="0" bIns="0" anchor="t">
            <a:spAutoFit/>
          </a:bodyPr>
          <a:lstStyle/>
          <a:p>
            <a:pPr algn="l">
              <a:lnSpc>
                <a:spcPct val="112000"/>
              </a:lnSpc>
              <a:spcAft>
                <a:spcPts val="0"/>
              </a:spcAft>
            </a:pPr>
            <a:r>
              <a:rPr sz="1250" b="1">
                <a:solidFill>
                  <a:srgbClr val="1C1C22"/>
                </a:solidFill>
                <a:latin typeface="Arial"/>
              </a:rPr>
              <a:t>Recovered acute-bay capacity</a:t>
            </a:r>
          </a:p>
        </p:txBody>
      </p:sp>
      <p:sp>
        <p:nvSpPr>
          <p:cNvPr id="8" name="TextBox 7"/>
          <p:cNvSpPr txBox="1"/>
          <p:nvPr/>
        </p:nvSpPr>
        <p:spPr>
          <a:xfrm>
            <a:off x="3931920" y="1773936"/>
            <a:ext cx="1691640" cy="256032"/>
          </a:xfrm>
          <a:prstGeom prst="rect">
            <a:avLst/>
          </a:prstGeom>
          <a:noFill/>
        </p:spPr>
        <p:txBody>
          <a:bodyPr wrap="square" lIns="0" rIns="0" tIns="0" bIns="0" anchor="t">
            <a:spAutoFit/>
          </a:bodyPr>
          <a:lstStyle/>
          <a:p>
            <a:pPr algn="r">
              <a:lnSpc>
                <a:spcPct val="112000"/>
              </a:lnSpc>
              <a:spcAft>
                <a:spcPts val="0"/>
              </a:spcAft>
            </a:pPr>
            <a:r>
              <a:rPr sz="1400" b="1">
                <a:solidFill>
                  <a:srgbClr val="A100FF"/>
                </a:solidFill>
                <a:latin typeface="Arial"/>
              </a:rPr>
              <a:t>₹29.2 L</a:t>
            </a:r>
          </a:p>
        </p:txBody>
      </p:sp>
      <p:sp>
        <p:nvSpPr>
          <p:cNvPr id="9" name="TextBox 8"/>
          <p:cNvSpPr txBox="1"/>
          <p:nvPr/>
        </p:nvSpPr>
        <p:spPr>
          <a:xfrm>
            <a:off x="640080" y="2084831"/>
            <a:ext cx="4800600" cy="566928"/>
          </a:xfrm>
          <a:prstGeom prst="rect">
            <a:avLst/>
          </a:prstGeom>
          <a:noFill/>
        </p:spPr>
        <p:txBody>
          <a:bodyPr wrap="square" lIns="0" rIns="0" tIns="0" bIns="0" anchor="t">
            <a:spAutoFit/>
          </a:bodyPr>
          <a:lstStyle/>
          <a:p>
            <a:pPr algn="l">
              <a:lnSpc>
                <a:spcPct val="112000"/>
              </a:lnSpc>
              <a:spcAft>
                <a:spcPts val="0"/>
              </a:spcAft>
            </a:pPr>
            <a:r>
              <a:rPr sz="1030" b="0">
                <a:solidFill>
                  <a:srgbClr val="5F5F70"/>
                </a:solidFill>
                <a:latin typeface="Arial"/>
              </a:rPr>
              <a:t>90,000 visits × 28.9% over-triage × 10% relative reduction × 1.5 bay-hours, at ₹18,000 per bed-day</a:t>
            </a:r>
          </a:p>
        </p:txBody>
      </p:sp>
      <p:sp>
        <p:nvSpPr>
          <p:cNvPr id="10" name="TextBox 9"/>
          <p:cNvSpPr txBox="1"/>
          <p:nvPr/>
        </p:nvSpPr>
        <p:spPr>
          <a:xfrm>
            <a:off x="640080" y="2779776"/>
            <a:ext cx="3108960" cy="256032"/>
          </a:xfrm>
          <a:prstGeom prst="rect">
            <a:avLst/>
          </a:prstGeom>
          <a:noFill/>
        </p:spPr>
        <p:txBody>
          <a:bodyPr wrap="square" lIns="0" rIns="0" tIns="0" bIns="0" anchor="t">
            <a:spAutoFit/>
          </a:bodyPr>
          <a:lstStyle/>
          <a:p>
            <a:pPr algn="l">
              <a:lnSpc>
                <a:spcPct val="112000"/>
              </a:lnSpc>
              <a:spcAft>
                <a:spcPts val="0"/>
              </a:spcAft>
            </a:pPr>
            <a:r>
              <a:rPr sz="1250" b="1">
                <a:solidFill>
                  <a:srgbClr val="1C1C22"/>
                </a:solidFill>
                <a:latin typeface="Arial"/>
              </a:rPr>
              <a:t>Retained encounters</a:t>
            </a:r>
          </a:p>
        </p:txBody>
      </p:sp>
      <p:sp>
        <p:nvSpPr>
          <p:cNvPr id="11" name="TextBox 10"/>
          <p:cNvSpPr txBox="1"/>
          <p:nvPr/>
        </p:nvSpPr>
        <p:spPr>
          <a:xfrm>
            <a:off x="3931920" y="2779776"/>
            <a:ext cx="1691640" cy="256032"/>
          </a:xfrm>
          <a:prstGeom prst="rect">
            <a:avLst/>
          </a:prstGeom>
          <a:noFill/>
        </p:spPr>
        <p:txBody>
          <a:bodyPr wrap="square" lIns="0" rIns="0" tIns="0" bIns="0" anchor="t">
            <a:spAutoFit/>
          </a:bodyPr>
          <a:lstStyle/>
          <a:p>
            <a:pPr algn="r">
              <a:lnSpc>
                <a:spcPct val="112000"/>
              </a:lnSpc>
              <a:spcAft>
                <a:spcPts val="0"/>
              </a:spcAft>
            </a:pPr>
            <a:r>
              <a:rPr sz="1400" b="1">
                <a:solidFill>
                  <a:srgbClr val="A100FF"/>
                </a:solidFill>
                <a:latin typeface="Arial"/>
              </a:rPr>
              <a:t>₹20.3 L</a:t>
            </a:r>
          </a:p>
        </p:txBody>
      </p:sp>
      <p:sp>
        <p:nvSpPr>
          <p:cNvPr id="12" name="TextBox 11"/>
          <p:cNvSpPr txBox="1"/>
          <p:nvPr/>
        </p:nvSpPr>
        <p:spPr>
          <a:xfrm>
            <a:off x="640080" y="3090672"/>
            <a:ext cx="4800600" cy="566928"/>
          </a:xfrm>
          <a:prstGeom prst="rect">
            <a:avLst/>
          </a:prstGeom>
          <a:noFill/>
        </p:spPr>
        <p:txBody>
          <a:bodyPr wrap="square" lIns="0" rIns="0" tIns="0" bIns="0" anchor="t">
            <a:spAutoFit/>
          </a:bodyPr>
          <a:lstStyle/>
          <a:p>
            <a:pPr algn="l">
              <a:lnSpc>
                <a:spcPct val="112000"/>
              </a:lnSpc>
              <a:spcAft>
                <a:spcPts val="0"/>
              </a:spcAft>
            </a:pPr>
            <a:r>
              <a:rPr sz="1030" b="0">
                <a:solidFill>
                  <a:srgbClr val="5F5F70"/>
                </a:solidFill>
                <a:latin typeface="Arial"/>
              </a:rPr>
              <a:t>2% leave-without-being-seen rate × 25% reduction × ₹4,500 contribution per encounter</a:t>
            </a:r>
          </a:p>
        </p:txBody>
      </p:sp>
      <p:sp>
        <p:nvSpPr>
          <p:cNvPr id="13" name="TextBox 12"/>
          <p:cNvSpPr txBox="1"/>
          <p:nvPr/>
        </p:nvSpPr>
        <p:spPr>
          <a:xfrm>
            <a:off x="640080" y="3785616"/>
            <a:ext cx="3108960" cy="256032"/>
          </a:xfrm>
          <a:prstGeom prst="rect">
            <a:avLst/>
          </a:prstGeom>
          <a:noFill/>
        </p:spPr>
        <p:txBody>
          <a:bodyPr wrap="square" lIns="0" rIns="0" tIns="0" bIns="0" anchor="t">
            <a:spAutoFit/>
          </a:bodyPr>
          <a:lstStyle/>
          <a:p>
            <a:pPr algn="l">
              <a:lnSpc>
                <a:spcPct val="112000"/>
              </a:lnSpc>
              <a:spcAft>
                <a:spcPts val="0"/>
              </a:spcAft>
            </a:pPr>
            <a:r>
              <a:rPr sz="1250" b="1">
                <a:solidFill>
                  <a:srgbClr val="1C1C22"/>
                </a:solidFill>
                <a:latin typeface="Arial"/>
              </a:rPr>
              <a:t>Avoided-harm value</a:t>
            </a:r>
          </a:p>
        </p:txBody>
      </p:sp>
      <p:sp>
        <p:nvSpPr>
          <p:cNvPr id="14" name="TextBox 13"/>
          <p:cNvSpPr txBox="1"/>
          <p:nvPr/>
        </p:nvSpPr>
        <p:spPr>
          <a:xfrm>
            <a:off x="3931920" y="3785616"/>
            <a:ext cx="1691640" cy="256032"/>
          </a:xfrm>
          <a:prstGeom prst="rect">
            <a:avLst/>
          </a:prstGeom>
          <a:noFill/>
        </p:spPr>
        <p:txBody>
          <a:bodyPr wrap="square" lIns="0" rIns="0" tIns="0" bIns="0" anchor="t">
            <a:spAutoFit/>
          </a:bodyPr>
          <a:lstStyle/>
          <a:p>
            <a:pPr algn="r">
              <a:lnSpc>
                <a:spcPct val="112000"/>
              </a:lnSpc>
              <a:spcAft>
                <a:spcPts val="0"/>
              </a:spcAft>
            </a:pPr>
            <a:r>
              <a:rPr sz="1400" b="1">
                <a:solidFill>
                  <a:srgbClr val="5F5F70"/>
                </a:solidFill>
                <a:latin typeface="Arial"/>
              </a:rPr>
              <a:t>not claimed</a:t>
            </a:r>
          </a:p>
        </p:txBody>
      </p:sp>
      <p:sp>
        <p:nvSpPr>
          <p:cNvPr id="15" name="TextBox 14"/>
          <p:cNvSpPr txBox="1"/>
          <p:nvPr/>
        </p:nvSpPr>
        <p:spPr>
          <a:xfrm>
            <a:off x="640080" y="4096512"/>
            <a:ext cx="4800600" cy="566928"/>
          </a:xfrm>
          <a:prstGeom prst="rect">
            <a:avLst/>
          </a:prstGeom>
          <a:noFill/>
        </p:spPr>
        <p:txBody>
          <a:bodyPr wrap="square" lIns="0" rIns="0" tIns="0" bIns="0" anchor="t">
            <a:spAutoFit/>
          </a:bodyPr>
          <a:lstStyle/>
          <a:p>
            <a:pPr algn="l">
              <a:lnSpc>
                <a:spcPct val="112000"/>
              </a:lnSpc>
              <a:spcAft>
                <a:spcPts val="0"/>
              </a:spcAft>
            </a:pPr>
            <a:r>
              <a:rPr sz="1030" b="0">
                <a:solidFill>
                  <a:srgbClr val="5F5F70"/>
                </a:solidFill>
                <a:latin typeface="Arial"/>
              </a:rPr>
              <a:t>The dominant economic term and the one we refuse to model before pilot measurement</a:t>
            </a:r>
          </a:p>
        </p:txBody>
      </p:sp>
      <p:sp>
        <p:nvSpPr>
          <p:cNvPr id="16" name="Rounded Rectangle 15"/>
          <p:cNvSpPr/>
          <p:nvPr/>
        </p:nvSpPr>
        <p:spPr>
          <a:xfrm>
            <a:off x="640080" y="4818888"/>
            <a:ext cx="4800600" cy="566928"/>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8" y="4956048"/>
            <a:ext cx="3017520" cy="292608"/>
          </a:xfrm>
          <a:prstGeom prst="rect">
            <a:avLst/>
          </a:prstGeom>
          <a:noFill/>
        </p:spPr>
        <p:txBody>
          <a:bodyPr wrap="square" lIns="0" rIns="0" tIns="0" bIns="0" anchor="t">
            <a:spAutoFit/>
          </a:bodyPr>
          <a:lstStyle/>
          <a:p>
            <a:pPr algn="l">
              <a:lnSpc>
                <a:spcPct val="112000"/>
              </a:lnSpc>
              <a:spcAft>
                <a:spcPts val="0"/>
              </a:spcAft>
            </a:pPr>
            <a:r>
              <a:rPr sz="1250" b="1">
                <a:solidFill>
                  <a:srgbClr val="6A00A8"/>
                </a:solidFill>
                <a:latin typeface="Arial"/>
              </a:rPr>
              <a:t>Quantified benefit</a:t>
            </a:r>
          </a:p>
        </p:txBody>
      </p:sp>
      <p:sp>
        <p:nvSpPr>
          <p:cNvPr id="18" name="TextBox 17"/>
          <p:cNvSpPr txBox="1"/>
          <p:nvPr/>
        </p:nvSpPr>
        <p:spPr>
          <a:xfrm>
            <a:off x="3749039" y="4937759"/>
            <a:ext cx="1188720" cy="310896"/>
          </a:xfrm>
          <a:prstGeom prst="rect">
            <a:avLst/>
          </a:prstGeom>
          <a:noFill/>
        </p:spPr>
        <p:txBody>
          <a:bodyPr wrap="square" lIns="0" rIns="0" tIns="0" bIns="0" anchor="t">
            <a:spAutoFit/>
          </a:bodyPr>
          <a:lstStyle/>
          <a:p>
            <a:pPr algn="r">
              <a:lnSpc>
                <a:spcPct val="112000"/>
              </a:lnSpc>
              <a:spcAft>
                <a:spcPts val="0"/>
              </a:spcAft>
            </a:pPr>
            <a:r>
              <a:rPr sz="1500" b="1">
                <a:solidFill>
                  <a:srgbClr val="6A00A8"/>
                </a:solidFill>
                <a:latin typeface="Arial"/>
              </a:rPr>
              <a:t>₹49.5 L</a:t>
            </a:r>
          </a:p>
        </p:txBody>
      </p:sp>
      <p:sp>
        <p:nvSpPr>
          <p:cNvPr id="19" name="Rounded Rectangle 18"/>
          <p:cNvSpPr/>
          <p:nvPr/>
        </p:nvSpPr>
        <p:spPr>
          <a:xfrm>
            <a:off x="5943600" y="1115568"/>
            <a:ext cx="5705856" cy="139903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17920" y="1316736"/>
            <a:ext cx="2194560" cy="640080"/>
          </a:xfrm>
          <a:prstGeom prst="rect">
            <a:avLst/>
          </a:prstGeom>
          <a:noFill/>
        </p:spPr>
        <p:txBody>
          <a:bodyPr wrap="square" lIns="0" rIns="0" tIns="0" bIns="0" anchor="t">
            <a:spAutoFit/>
          </a:bodyPr>
          <a:lstStyle/>
          <a:p>
            <a:pPr algn="l">
              <a:lnSpc>
                <a:spcPct val="112000"/>
              </a:lnSpc>
              <a:spcAft>
                <a:spcPts val="0"/>
              </a:spcAft>
            </a:pPr>
            <a:r>
              <a:rPr sz="3000" b="1">
                <a:solidFill>
                  <a:srgbClr val="A100FF"/>
                </a:solidFill>
                <a:latin typeface="Arial"/>
              </a:rPr>
              <a:t>1.8x</a:t>
            </a:r>
          </a:p>
        </p:txBody>
      </p:sp>
      <p:sp>
        <p:nvSpPr>
          <p:cNvPr id="21" name="TextBox 20"/>
          <p:cNvSpPr txBox="1"/>
          <p:nvPr/>
        </p:nvSpPr>
        <p:spPr>
          <a:xfrm>
            <a:off x="8549640" y="1389888"/>
            <a:ext cx="2880360" cy="91440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Return in year one on the Clinical tier licence, on quantified terms only</a:t>
            </a:r>
          </a:p>
        </p:txBody>
      </p:sp>
      <p:sp>
        <p:nvSpPr>
          <p:cNvPr id="22" name="Rounded Rectangle 21"/>
          <p:cNvSpPr/>
          <p:nvPr/>
        </p:nvSpPr>
        <p:spPr>
          <a:xfrm>
            <a:off x="5943600" y="2633472"/>
            <a:ext cx="5705856" cy="139903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2834640"/>
            <a:ext cx="2194560" cy="640080"/>
          </a:xfrm>
          <a:prstGeom prst="rect">
            <a:avLst/>
          </a:prstGeom>
          <a:noFill/>
        </p:spPr>
        <p:txBody>
          <a:bodyPr wrap="square" lIns="0" rIns="0" tIns="0" bIns="0" anchor="t">
            <a:spAutoFit/>
          </a:bodyPr>
          <a:lstStyle/>
          <a:p>
            <a:pPr algn="l">
              <a:lnSpc>
                <a:spcPct val="112000"/>
              </a:lnSpc>
              <a:spcAft>
                <a:spcPts val="0"/>
              </a:spcAft>
            </a:pPr>
            <a:r>
              <a:rPr sz="3000" b="1">
                <a:solidFill>
                  <a:srgbClr val="6A00A8"/>
                </a:solidFill>
                <a:latin typeface="Arial"/>
              </a:rPr>
              <a:t>₹0.31</a:t>
            </a:r>
          </a:p>
        </p:txBody>
      </p:sp>
      <p:sp>
        <p:nvSpPr>
          <p:cNvPr id="24" name="TextBox 23"/>
          <p:cNvSpPr txBox="1"/>
          <p:nvPr/>
        </p:nvSpPr>
        <p:spPr>
          <a:xfrm>
            <a:off x="8549640" y="2907791"/>
            <a:ext cx="2880360" cy="91440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Cost per triaged encounter at 90,000 annual visits</a:t>
            </a:r>
          </a:p>
        </p:txBody>
      </p:sp>
      <p:sp>
        <p:nvSpPr>
          <p:cNvPr id="25" name="Rounded Rectangle 24"/>
          <p:cNvSpPr/>
          <p:nvPr/>
        </p:nvSpPr>
        <p:spPr>
          <a:xfrm>
            <a:off x="5943600" y="4151376"/>
            <a:ext cx="5705856" cy="139903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4352544"/>
            <a:ext cx="2194560" cy="640080"/>
          </a:xfrm>
          <a:prstGeom prst="rect">
            <a:avLst/>
          </a:prstGeom>
          <a:noFill/>
        </p:spPr>
        <p:txBody>
          <a:bodyPr wrap="square" lIns="0" rIns="0" tIns="0" bIns="0" anchor="t">
            <a:spAutoFit/>
          </a:bodyPr>
          <a:lstStyle/>
          <a:p>
            <a:pPr algn="l">
              <a:lnSpc>
                <a:spcPct val="112000"/>
              </a:lnSpc>
              <a:spcAft>
                <a:spcPts val="0"/>
              </a:spcAft>
            </a:pPr>
            <a:r>
              <a:rPr sz="3000" b="1">
                <a:solidFill>
                  <a:srgbClr val="007D3C"/>
                </a:solidFill>
                <a:latin typeface="Arial"/>
              </a:rPr>
              <a:t>&lt; 8 mo</a:t>
            </a:r>
          </a:p>
        </p:txBody>
      </p:sp>
      <p:sp>
        <p:nvSpPr>
          <p:cNvPr id="27" name="TextBox 26"/>
          <p:cNvSpPr txBox="1"/>
          <p:nvPr/>
        </p:nvSpPr>
        <p:spPr>
          <a:xfrm>
            <a:off x="8549640" y="4425696"/>
            <a:ext cx="2880360" cy="91440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Payback period including the one-time integration engagement</a:t>
            </a:r>
          </a:p>
        </p:txBody>
      </p:sp>
      <p:sp>
        <p:nvSpPr>
          <p:cNvPr id="28" name="Rounded Rectangle 27"/>
          <p:cNvSpPr/>
          <p:nvPr/>
        </p:nvSpPr>
        <p:spPr>
          <a:xfrm>
            <a:off x="5943600" y="5550408"/>
            <a:ext cx="5705856" cy="777240"/>
          </a:xfrm>
          <a:prstGeom prst="roundRect">
            <a:avLst>
              <a:gd name="adj" fmla="val 5000"/>
            </a:avLst>
          </a:prstGeom>
          <a:solidFill>
            <a:srgbClr val="FFF6F6"/>
          </a:solidFill>
          <a:ln w="12700">
            <a:solidFill>
              <a:srgbClr val="B00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199632" y="5687568"/>
            <a:ext cx="5212080" cy="5486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Every figure on this slide is a model, not a measurement. The reduction rates, contribution margin and bed-day cost are assumptions to be replaced by pilot data. We will publish the delta.</a:t>
            </a:r>
          </a:p>
        </p:txBody>
      </p:sp>
    </p:spTree>
    <p:extLst>
      <p:ext uri="{BB962C8B-B14F-4D97-AF65-F5344CB8AC3E}">
        <p14:creationId xmlns:p14="http://schemas.microsoft.com/office/powerpoint/2010/main" val="969716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Competitive positioning</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2697480" cy="39319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5216" y="1353312"/>
            <a:ext cx="2258568" cy="658368"/>
          </a:xfrm>
          <a:prstGeom prst="rect">
            <a:avLst/>
          </a:prstGeom>
          <a:noFill/>
        </p:spPr>
        <p:txBody>
          <a:bodyPr wrap="square" lIns="0" rIns="0" tIns="0" bIns="0" anchor="t">
            <a:spAutoFit/>
          </a:bodyPr>
          <a:lstStyle/>
          <a:p>
            <a:pPr algn="l">
              <a:lnSpc>
                <a:spcPct val="112000"/>
              </a:lnSpc>
              <a:spcAft>
                <a:spcPts val="0"/>
              </a:spcAft>
            </a:pPr>
            <a:r>
              <a:rPr sz="1300" b="1">
                <a:solidFill>
                  <a:srgbClr val="5F5F70"/>
                </a:solidFill>
                <a:latin typeface="Arial"/>
              </a:rPr>
              <a:t>Paper and protocol triage</a:t>
            </a:r>
          </a:p>
        </p:txBody>
      </p:sp>
      <p:sp>
        <p:nvSpPr>
          <p:cNvPr id="7" name="TextBox 6"/>
          <p:cNvSpPr txBox="1"/>
          <p:nvPr/>
        </p:nvSpPr>
        <p:spPr>
          <a:xfrm>
            <a:off x="585216" y="2121408"/>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8" name="TextBox 7"/>
          <p:cNvSpPr txBox="1"/>
          <p:nvPr/>
        </p:nvSpPr>
        <p:spPr>
          <a:xfrm>
            <a:off x="822960" y="2121408"/>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Free, universal, trusted</a:t>
            </a:r>
          </a:p>
        </p:txBody>
      </p:sp>
      <p:sp>
        <p:nvSpPr>
          <p:cNvPr id="9" name="TextBox 8"/>
          <p:cNvSpPr txBox="1"/>
          <p:nvPr/>
        </p:nvSpPr>
        <p:spPr>
          <a:xfrm>
            <a:off x="585216" y="2834640"/>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10" name="TextBox 9"/>
          <p:cNvSpPr txBox="1"/>
          <p:nvPr/>
        </p:nvSpPr>
        <p:spPr>
          <a:xfrm>
            <a:off x="822960" y="2834640"/>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No record of reasoning</a:t>
            </a:r>
          </a:p>
        </p:txBody>
      </p:sp>
      <p:sp>
        <p:nvSpPr>
          <p:cNvPr id="11" name="TextBox 10"/>
          <p:cNvSpPr txBox="1"/>
          <p:nvPr/>
        </p:nvSpPr>
        <p:spPr>
          <a:xfrm>
            <a:off x="585216" y="3547872"/>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12" name="TextBox 11"/>
          <p:cNvSpPr txBox="1"/>
          <p:nvPr/>
        </p:nvSpPr>
        <p:spPr>
          <a:xfrm>
            <a:off x="822960" y="3547872"/>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No re-monitoring after assignment</a:t>
            </a:r>
          </a:p>
        </p:txBody>
      </p:sp>
      <p:sp>
        <p:nvSpPr>
          <p:cNvPr id="13" name="TextBox 12"/>
          <p:cNvSpPr txBox="1"/>
          <p:nvPr/>
        </p:nvSpPr>
        <p:spPr>
          <a:xfrm>
            <a:off x="585216" y="4261104"/>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14" name="TextBox 13"/>
          <p:cNvSpPr txBox="1"/>
          <p:nvPr/>
        </p:nvSpPr>
        <p:spPr>
          <a:xfrm>
            <a:off x="822960" y="4261104"/>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Degrades exactly when load rises</a:t>
            </a:r>
          </a:p>
        </p:txBody>
      </p:sp>
      <p:sp>
        <p:nvSpPr>
          <p:cNvPr id="15" name="Rounded Rectangle 14"/>
          <p:cNvSpPr/>
          <p:nvPr/>
        </p:nvSpPr>
        <p:spPr>
          <a:xfrm>
            <a:off x="3227832" y="1115568"/>
            <a:ext cx="2697480" cy="39319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47287" y="1353312"/>
            <a:ext cx="2258568" cy="658368"/>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EHR-embedded scores</a:t>
            </a:r>
          </a:p>
        </p:txBody>
      </p:sp>
      <p:sp>
        <p:nvSpPr>
          <p:cNvPr id="17" name="TextBox 16"/>
          <p:cNvSpPr txBox="1"/>
          <p:nvPr/>
        </p:nvSpPr>
        <p:spPr>
          <a:xfrm>
            <a:off x="3447287" y="2121408"/>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18" name="TextBox 17"/>
          <p:cNvSpPr txBox="1"/>
          <p:nvPr/>
        </p:nvSpPr>
        <p:spPr>
          <a:xfrm>
            <a:off x="3685031" y="2121408"/>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Already in the workflow</a:t>
            </a:r>
          </a:p>
        </p:txBody>
      </p:sp>
      <p:sp>
        <p:nvSpPr>
          <p:cNvPr id="19" name="TextBox 18"/>
          <p:cNvSpPr txBox="1"/>
          <p:nvPr/>
        </p:nvSpPr>
        <p:spPr>
          <a:xfrm>
            <a:off x="3447287" y="2834640"/>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20" name="TextBox 19"/>
          <p:cNvSpPr txBox="1"/>
          <p:nvPr/>
        </p:nvSpPr>
        <p:spPr>
          <a:xfrm>
            <a:off x="3685031" y="2834640"/>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Deterministic and auditable</a:t>
            </a:r>
          </a:p>
        </p:txBody>
      </p:sp>
      <p:sp>
        <p:nvSpPr>
          <p:cNvPr id="21" name="TextBox 20"/>
          <p:cNvSpPr txBox="1"/>
          <p:nvPr/>
        </p:nvSpPr>
        <p:spPr>
          <a:xfrm>
            <a:off x="3447287" y="3547872"/>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22" name="TextBox 21"/>
          <p:cNvSpPr txBox="1"/>
          <p:nvPr/>
        </p:nvSpPr>
        <p:spPr>
          <a:xfrm>
            <a:off x="3685031" y="3547872"/>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Single-signal dilution</a:t>
            </a:r>
          </a:p>
        </p:txBody>
      </p:sp>
      <p:sp>
        <p:nvSpPr>
          <p:cNvPr id="23" name="TextBox 22"/>
          <p:cNvSpPr txBox="1"/>
          <p:nvPr/>
        </p:nvSpPr>
        <p:spPr>
          <a:xfrm>
            <a:off x="3447287" y="4261104"/>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24" name="TextBox 23"/>
          <p:cNvSpPr txBox="1"/>
          <p:nvPr/>
        </p:nvSpPr>
        <p:spPr>
          <a:xfrm>
            <a:off x="3685031" y="4261104"/>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No missingness handling, no calibration</a:t>
            </a:r>
          </a:p>
        </p:txBody>
      </p:sp>
      <p:sp>
        <p:nvSpPr>
          <p:cNvPr id="25" name="Rounded Rectangle 24"/>
          <p:cNvSpPr/>
          <p:nvPr/>
        </p:nvSpPr>
        <p:spPr>
          <a:xfrm>
            <a:off x="6089904" y="1115568"/>
            <a:ext cx="2697480" cy="393192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09360" y="1353312"/>
            <a:ext cx="2258568" cy="658368"/>
          </a:xfrm>
          <a:prstGeom prst="rect">
            <a:avLst/>
          </a:prstGeom>
          <a:noFill/>
        </p:spPr>
        <p:txBody>
          <a:bodyPr wrap="square" lIns="0" rIns="0" tIns="0" bIns="0" anchor="t">
            <a:spAutoFit/>
          </a:bodyPr>
          <a:lstStyle/>
          <a:p>
            <a:pPr algn="l">
              <a:lnSpc>
                <a:spcPct val="112000"/>
              </a:lnSpc>
              <a:spcAft>
                <a:spcPts val="0"/>
              </a:spcAft>
            </a:pPr>
            <a:r>
              <a:rPr sz="1300" b="1">
                <a:solidFill>
                  <a:srgbClr val="B45309"/>
                </a:solidFill>
                <a:latin typeface="Arial"/>
              </a:rPr>
              <a:t>Black-box acuity models</a:t>
            </a:r>
          </a:p>
        </p:txBody>
      </p:sp>
      <p:sp>
        <p:nvSpPr>
          <p:cNvPr id="27" name="TextBox 26"/>
          <p:cNvSpPr txBox="1"/>
          <p:nvPr/>
        </p:nvSpPr>
        <p:spPr>
          <a:xfrm>
            <a:off x="6309360" y="2121408"/>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28" name="TextBox 27"/>
          <p:cNvSpPr txBox="1"/>
          <p:nvPr/>
        </p:nvSpPr>
        <p:spPr>
          <a:xfrm>
            <a:off x="6547104" y="2121408"/>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Strong benchmark numbers</a:t>
            </a:r>
          </a:p>
        </p:txBody>
      </p:sp>
      <p:sp>
        <p:nvSpPr>
          <p:cNvPr id="29" name="TextBox 28"/>
          <p:cNvSpPr txBox="1"/>
          <p:nvPr/>
        </p:nvSpPr>
        <p:spPr>
          <a:xfrm>
            <a:off x="6309360" y="2834640"/>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30" name="TextBox 29"/>
          <p:cNvSpPr txBox="1"/>
          <p:nvPr/>
        </p:nvSpPr>
        <p:spPr>
          <a:xfrm>
            <a:off x="6547104" y="2834640"/>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Ranking quality is genuinely better</a:t>
            </a:r>
          </a:p>
        </p:txBody>
      </p:sp>
      <p:sp>
        <p:nvSpPr>
          <p:cNvPr id="31" name="TextBox 30"/>
          <p:cNvSpPr txBox="1"/>
          <p:nvPr/>
        </p:nvSpPr>
        <p:spPr>
          <a:xfrm>
            <a:off x="6309360" y="3547872"/>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32" name="TextBox 31"/>
          <p:cNvSpPr txBox="1"/>
          <p:nvPr/>
        </p:nvSpPr>
        <p:spPr>
          <a:xfrm>
            <a:off x="6547104" y="3547872"/>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Can suppress a redline</a:t>
            </a:r>
          </a:p>
        </p:txBody>
      </p:sp>
      <p:sp>
        <p:nvSpPr>
          <p:cNvPr id="33" name="TextBox 32"/>
          <p:cNvSpPr txBox="1"/>
          <p:nvPr/>
        </p:nvSpPr>
        <p:spPr>
          <a:xfrm>
            <a:off x="6309360" y="4261104"/>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B00020"/>
                </a:solidFill>
                <a:latin typeface="Arial"/>
              </a:rPr>
              <a:t>–</a:t>
            </a:r>
          </a:p>
        </p:txBody>
      </p:sp>
      <p:sp>
        <p:nvSpPr>
          <p:cNvPr id="34" name="TextBox 33"/>
          <p:cNvSpPr txBox="1"/>
          <p:nvPr/>
        </p:nvSpPr>
        <p:spPr>
          <a:xfrm>
            <a:off x="6547104" y="4261104"/>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Unexplainable at the bedside, hard to certify</a:t>
            </a:r>
          </a:p>
        </p:txBody>
      </p:sp>
      <p:sp>
        <p:nvSpPr>
          <p:cNvPr id="35" name="Rounded Rectangle 34"/>
          <p:cNvSpPr/>
          <p:nvPr/>
        </p:nvSpPr>
        <p:spPr>
          <a:xfrm>
            <a:off x="8951976" y="1115568"/>
            <a:ext cx="2697480" cy="393192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71432" y="1353312"/>
            <a:ext cx="2258568" cy="658368"/>
          </a:xfrm>
          <a:prstGeom prst="rect">
            <a:avLst/>
          </a:prstGeom>
          <a:noFill/>
        </p:spPr>
        <p:txBody>
          <a:bodyPr wrap="square" lIns="0" rIns="0" tIns="0" bIns="0" anchor="t">
            <a:spAutoFit/>
          </a:bodyPr>
          <a:lstStyle/>
          <a:p>
            <a:pPr algn="l">
              <a:lnSpc>
                <a:spcPct val="112000"/>
              </a:lnSpc>
              <a:spcAft>
                <a:spcPts val="0"/>
              </a:spcAft>
            </a:pPr>
            <a:r>
              <a:rPr sz="1300" b="1">
                <a:solidFill>
                  <a:srgbClr val="A100FF"/>
                </a:solidFill>
                <a:latin typeface="Arial"/>
              </a:rPr>
              <a:t>PatientTriage.ai</a:t>
            </a:r>
          </a:p>
        </p:txBody>
      </p:sp>
      <p:sp>
        <p:nvSpPr>
          <p:cNvPr id="37" name="TextBox 36"/>
          <p:cNvSpPr txBox="1"/>
          <p:nvPr/>
        </p:nvSpPr>
        <p:spPr>
          <a:xfrm>
            <a:off x="9171432" y="2121408"/>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38" name="TextBox 37"/>
          <p:cNvSpPr txBox="1"/>
          <p:nvPr/>
        </p:nvSpPr>
        <p:spPr>
          <a:xfrm>
            <a:off x="9409176" y="2121408"/>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Model plus a gate that cannot de-escalate</a:t>
            </a:r>
          </a:p>
        </p:txBody>
      </p:sp>
      <p:sp>
        <p:nvSpPr>
          <p:cNvPr id="39" name="TextBox 38"/>
          <p:cNvSpPr txBox="1"/>
          <p:nvPr/>
        </p:nvSpPr>
        <p:spPr>
          <a:xfrm>
            <a:off x="9171432" y="2834640"/>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40" name="TextBox 39"/>
          <p:cNvSpPr txBox="1"/>
          <p:nvPr/>
        </p:nvSpPr>
        <p:spPr>
          <a:xfrm>
            <a:off x="9409176" y="2834640"/>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Missingness as evidence</a:t>
            </a:r>
          </a:p>
        </p:txBody>
      </p:sp>
      <p:sp>
        <p:nvSpPr>
          <p:cNvPr id="41" name="TextBox 40"/>
          <p:cNvSpPr txBox="1"/>
          <p:nvPr/>
        </p:nvSpPr>
        <p:spPr>
          <a:xfrm>
            <a:off x="9171432" y="3547872"/>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42" name="TextBox 41"/>
          <p:cNvSpPr txBox="1"/>
          <p:nvPr/>
        </p:nvSpPr>
        <p:spPr>
          <a:xfrm>
            <a:off x="9409176" y="3547872"/>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Continuous reassessment loop</a:t>
            </a:r>
          </a:p>
        </p:txBody>
      </p:sp>
      <p:sp>
        <p:nvSpPr>
          <p:cNvPr id="43" name="TextBox 42"/>
          <p:cNvSpPr txBox="1"/>
          <p:nvPr/>
        </p:nvSpPr>
        <p:spPr>
          <a:xfrm>
            <a:off x="9171432" y="4261104"/>
            <a:ext cx="201168" cy="274320"/>
          </a:xfrm>
          <a:prstGeom prst="rect">
            <a:avLst/>
          </a:prstGeom>
          <a:noFill/>
        </p:spPr>
        <p:txBody>
          <a:bodyPr wrap="square" lIns="0" rIns="0" tIns="0" bIns="0" anchor="t">
            <a:spAutoFit/>
          </a:bodyPr>
          <a:lstStyle/>
          <a:p>
            <a:pPr algn="l">
              <a:lnSpc>
                <a:spcPct val="112000"/>
              </a:lnSpc>
              <a:spcAft>
                <a:spcPts val="0"/>
              </a:spcAft>
            </a:pPr>
            <a:r>
              <a:rPr sz="1300" b="1">
                <a:solidFill>
                  <a:srgbClr val="007D3C"/>
                </a:solidFill>
                <a:latin typeface="Arial"/>
              </a:rPr>
              <a:t>+</a:t>
            </a:r>
          </a:p>
        </p:txBody>
      </p:sp>
      <p:sp>
        <p:nvSpPr>
          <p:cNvPr id="44" name="TextBox 43"/>
          <p:cNvSpPr txBox="1"/>
          <p:nvPr/>
        </p:nvSpPr>
        <p:spPr>
          <a:xfrm>
            <a:off x="9409176" y="4261104"/>
            <a:ext cx="2020824" cy="68580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Every decision reconstructable</a:t>
            </a:r>
          </a:p>
        </p:txBody>
      </p:sp>
      <p:sp>
        <p:nvSpPr>
          <p:cNvPr id="45" name="Rounded Rectangle 44"/>
          <p:cNvSpPr/>
          <p:nvPr/>
        </p:nvSpPr>
        <p:spPr>
          <a:xfrm>
            <a:off x="365760" y="5230368"/>
            <a:ext cx="11283696" cy="82296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40080" y="5376672"/>
            <a:ext cx="10698480" cy="548640"/>
          </a:xfrm>
          <a:prstGeom prst="rect">
            <a:avLst/>
          </a:prstGeom>
          <a:noFill/>
        </p:spPr>
        <p:txBody>
          <a:bodyPr wrap="square" lIns="0" rIns="0" tIns="0" bIns="0" anchor="t">
            <a:spAutoFit/>
          </a:bodyPr>
          <a:lstStyle/>
          <a:p>
            <a:pPr algn="l">
              <a:lnSpc>
                <a:spcPct val="112000"/>
              </a:lnSpc>
              <a:spcAft>
                <a:spcPts val="300"/>
              </a:spcAft>
            </a:pPr>
            <a:r>
              <a:rPr sz="1250" b="1">
                <a:solidFill>
                  <a:srgbClr val="6A00A8"/>
                </a:solidFill>
                <a:latin typeface="Arial"/>
              </a:rPr>
              <a:t>The defensible position</a:t>
            </a:r>
          </a:p>
          <a:p>
            <a:pPr algn="l">
              <a:lnSpc>
                <a:spcPct val="112000"/>
              </a:lnSpc>
              <a:spcAft>
                <a:spcPts val="0"/>
              </a:spcAft>
            </a:pPr>
            <a:r>
              <a:rPr sz="1180" b="0">
                <a:solidFill>
                  <a:srgbClr val="1C1C22"/>
                </a:solidFill>
                <a:latin typeface="Arial"/>
              </a:rPr>
              <a:t>We do not compete on AUPRC. We compete on the property that no competitor can retrofit: an architecture where the learned component is structurally unable to make a patient less urgent, and where a safety officer can reconstruct any decision from the record.</a:t>
            </a:r>
          </a:p>
        </p:txBody>
      </p:sp>
    </p:spTree>
    <p:extLst>
      <p:ext uri="{BB962C8B-B14F-4D97-AF65-F5344CB8AC3E}">
        <p14:creationId xmlns:p14="http://schemas.microsoft.com/office/powerpoint/2010/main" val="969716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Go-to-market</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61288"/>
            <a:ext cx="11283696" cy="1133856"/>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21792" y="1472184"/>
            <a:ext cx="512064" cy="51206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7" name="TextBox 6"/>
          <p:cNvSpPr txBox="1"/>
          <p:nvPr/>
        </p:nvSpPr>
        <p:spPr>
          <a:xfrm>
            <a:off x="1298448" y="1380744"/>
            <a:ext cx="2194560" cy="274320"/>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Wedge</a:t>
            </a:r>
          </a:p>
        </p:txBody>
      </p:sp>
      <p:sp>
        <p:nvSpPr>
          <p:cNvPr id="8" name="TextBox 7"/>
          <p:cNvSpPr txBox="1"/>
          <p:nvPr/>
        </p:nvSpPr>
        <p:spPr>
          <a:xfrm>
            <a:off x="1298448" y="1728216"/>
            <a:ext cx="2194560" cy="256032"/>
          </a:xfrm>
          <a:prstGeom prst="rect">
            <a:avLst/>
          </a:prstGeom>
          <a:noFill/>
        </p:spPr>
        <p:txBody>
          <a:bodyPr wrap="square" lIns="0" rIns="0" tIns="0" bIns="0" anchor="t">
            <a:spAutoFit/>
          </a:bodyPr>
          <a:lstStyle/>
          <a:p>
            <a:pPr algn="l">
              <a:lnSpc>
                <a:spcPct val="112000"/>
              </a:lnSpc>
              <a:spcAft>
                <a:spcPts val="0"/>
              </a:spcAft>
            </a:pPr>
            <a:r>
              <a:rPr sz="1080" b="0">
                <a:solidFill>
                  <a:srgbClr val="5F5F70"/>
                </a:solidFill>
                <a:latin typeface="Arial"/>
              </a:rPr>
              <a:t>Months 0–6</a:t>
            </a:r>
          </a:p>
        </p:txBody>
      </p:sp>
      <p:sp>
        <p:nvSpPr>
          <p:cNvPr id="9" name="TextBox 8"/>
          <p:cNvSpPr txBox="1"/>
          <p:nvPr/>
        </p:nvSpPr>
        <p:spPr>
          <a:xfrm>
            <a:off x="3749039" y="1417320"/>
            <a:ext cx="7635240" cy="77724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Two shadow-mode deployments at Indian tertiary private EDs with an existing quality-improvement mandate. Sell to the clinical quality lead, not IT.</a:t>
            </a:r>
          </a:p>
        </p:txBody>
      </p:sp>
      <p:sp>
        <p:nvSpPr>
          <p:cNvPr id="10" name="Rounded Rectangle 9"/>
          <p:cNvSpPr/>
          <p:nvPr/>
        </p:nvSpPr>
        <p:spPr>
          <a:xfrm>
            <a:off x="365760" y="2368296"/>
            <a:ext cx="11283696" cy="1133856"/>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21792" y="2679191"/>
            <a:ext cx="512064" cy="51206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12" name="TextBox 11"/>
          <p:cNvSpPr txBox="1"/>
          <p:nvPr/>
        </p:nvSpPr>
        <p:spPr>
          <a:xfrm>
            <a:off x="1298448" y="2587752"/>
            <a:ext cx="2194560" cy="274320"/>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Proof</a:t>
            </a:r>
          </a:p>
        </p:txBody>
      </p:sp>
      <p:sp>
        <p:nvSpPr>
          <p:cNvPr id="13" name="TextBox 12"/>
          <p:cNvSpPr txBox="1"/>
          <p:nvPr/>
        </p:nvSpPr>
        <p:spPr>
          <a:xfrm>
            <a:off x="1298448" y="2935224"/>
            <a:ext cx="2194560" cy="256032"/>
          </a:xfrm>
          <a:prstGeom prst="rect">
            <a:avLst/>
          </a:prstGeom>
          <a:noFill/>
        </p:spPr>
        <p:txBody>
          <a:bodyPr wrap="square" lIns="0" rIns="0" tIns="0" bIns="0" anchor="t">
            <a:spAutoFit/>
          </a:bodyPr>
          <a:lstStyle/>
          <a:p>
            <a:pPr algn="l">
              <a:lnSpc>
                <a:spcPct val="112000"/>
              </a:lnSpc>
              <a:spcAft>
                <a:spcPts val="0"/>
              </a:spcAft>
            </a:pPr>
            <a:r>
              <a:rPr sz="1080" b="0">
                <a:solidFill>
                  <a:srgbClr val="5F5F70"/>
                </a:solidFill>
                <a:latin typeface="Arial"/>
              </a:rPr>
              <a:t>Months 6–14</a:t>
            </a:r>
          </a:p>
        </p:txBody>
      </p:sp>
      <p:sp>
        <p:nvSpPr>
          <p:cNvPr id="14" name="TextBox 13"/>
          <p:cNvSpPr txBox="1"/>
          <p:nvPr/>
        </p:nvSpPr>
        <p:spPr>
          <a:xfrm>
            <a:off x="3749039" y="2624328"/>
            <a:ext cx="7635240" cy="77724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Retrospective validation on de-identified historical encounters at each site. Publish subgroup performance including calibration by age band. Convert to Clinical tier on measured under-triage reduction.</a:t>
            </a:r>
          </a:p>
        </p:txBody>
      </p:sp>
      <p:sp>
        <p:nvSpPr>
          <p:cNvPr id="15" name="Rounded Rectangle 14"/>
          <p:cNvSpPr/>
          <p:nvPr/>
        </p:nvSpPr>
        <p:spPr>
          <a:xfrm>
            <a:off x="365760" y="3575304"/>
            <a:ext cx="11283696" cy="1133856"/>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21792" y="3886200"/>
            <a:ext cx="512064" cy="51206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7" name="TextBox 16"/>
          <p:cNvSpPr txBox="1"/>
          <p:nvPr/>
        </p:nvSpPr>
        <p:spPr>
          <a:xfrm>
            <a:off x="1298448" y="3794760"/>
            <a:ext cx="2194560" cy="274320"/>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Reference</a:t>
            </a:r>
          </a:p>
        </p:txBody>
      </p:sp>
      <p:sp>
        <p:nvSpPr>
          <p:cNvPr id="18" name="TextBox 17"/>
          <p:cNvSpPr txBox="1"/>
          <p:nvPr/>
        </p:nvSpPr>
        <p:spPr>
          <a:xfrm>
            <a:off x="1298448" y="4142232"/>
            <a:ext cx="2194560" cy="256032"/>
          </a:xfrm>
          <a:prstGeom prst="rect">
            <a:avLst/>
          </a:prstGeom>
          <a:noFill/>
        </p:spPr>
        <p:txBody>
          <a:bodyPr wrap="square" lIns="0" rIns="0" tIns="0" bIns="0" anchor="t">
            <a:spAutoFit/>
          </a:bodyPr>
          <a:lstStyle/>
          <a:p>
            <a:pPr algn="l">
              <a:lnSpc>
                <a:spcPct val="112000"/>
              </a:lnSpc>
              <a:spcAft>
                <a:spcPts val="0"/>
              </a:spcAft>
            </a:pPr>
            <a:r>
              <a:rPr sz="1080" b="0">
                <a:solidFill>
                  <a:srgbClr val="5F5F70"/>
                </a:solidFill>
                <a:latin typeface="Arial"/>
              </a:rPr>
              <a:t>Months 12–24</a:t>
            </a:r>
          </a:p>
        </p:txBody>
      </p:sp>
      <p:sp>
        <p:nvSpPr>
          <p:cNvPr id="19" name="TextBox 18"/>
          <p:cNvSpPr txBox="1"/>
          <p:nvPr/>
        </p:nvSpPr>
        <p:spPr>
          <a:xfrm>
            <a:off x="3749039" y="3831336"/>
            <a:ext cx="7635240" cy="77724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Co-authored evidence with the first two sites. Present at emergency medicine and health informatics forums. Reference selling into hospital networks.</a:t>
            </a:r>
          </a:p>
        </p:txBody>
      </p:sp>
      <p:sp>
        <p:nvSpPr>
          <p:cNvPr id="20" name="Rounded Rectangle 19"/>
          <p:cNvSpPr/>
          <p:nvPr/>
        </p:nvSpPr>
        <p:spPr>
          <a:xfrm>
            <a:off x="365760" y="4782312"/>
            <a:ext cx="11283696" cy="1133856"/>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21792" y="5093208"/>
            <a:ext cx="512064" cy="51206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22" name="TextBox 21"/>
          <p:cNvSpPr txBox="1"/>
          <p:nvPr/>
        </p:nvSpPr>
        <p:spPr>
          <a:xfrm>
            <a:off x="1298448" y="5001768"/>
            <a:ext cx="2194560" cy="274320"/>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Scale</a:t>
            </a:r>
          </a:p>
        </p:txBody>
      </p:sp>
      <p:sp>
        <p:nvSpPr>
          <p:cNvPr id="23" name="TextBox 22"/>
          <p:cNvSpPr txBox="1"/>
          <p:nvPr/>
        </p:nvSpPr>
        <p:spPr>
          <a:xfrm>
            <a:off x="1298448" y="5349240"/>
            <a:ext cx="2194560" cy="256032"/>
          </a:xfrm>
          <a:prstGeom prst="rect">
            <a:avLst/>
          </a:prstGeom>
          <a:noFill/>
        </p:spPr>
        <p:txBody>
          <a:bodyPr wrap="square" lIns="0" rIns="0" tIns="0" bIns="0" anchor="t">
            <a:spAutoFit/>
          </a:bodyPr>
          <a:lstStyle/>
          <a:p>
            <a:pPr algn="l">
              <a:lnSpc>
                <a:spcPct val="112000"/>
              </a:lnSpc>
              <a:spcAft>
                <a:spcPts val="0"/>
              </a:spcAft>
            </a:pPr>
            <a:r>
              <a:rPr sz="1080" b="0">
                <a:solidFill>
                  <a:srgbClr val="5F5F70"/>
                </a:solidFill>
                <a:latin typeface="Arial"/>
              </a:rPr>
              <a:t>Months 24–36</a:t>
            </a:r>
          </a:p>
        </p:txBody>
      </p:sp>
      <p:sp>
        <p:nvSpPr>
          <p:cNvPr id="24" name="TextBox 23"/>
          <p:cNvSpPr txBox="1"/>
          <p:nvPr/>
        </p:nvSpPr>
        <p:spPr>
          <a:xfrm>
            <a:off x="3749039" y="5038344"/>
            <a:ext cx="7635240" cy="77724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Network tier into multi-site groups. Channel partnership with an EHR integrator to remove the integration barrier that kills most clinical software deals.</a:t>
            </a:r>
          </a:p>
        </p:txBody>
      </p:sp>
      <p:sp>
        <p:nvSpPr>
          <p:cNvPr id="25" name="Rounded Rectangle 24"/>
          <p:cNvSpPr/>
          <p:nvPr/>
        </p:nvSpPr>
        <p:spPr>
          <a:xfrm>
            <a:off x="365760" y="6007608"/>
            <a:ext cx="11283696" cy="658368"/>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 y="6153912"/>
            <a:ext cx="10698480" cy="411480"/>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Buying centre: clinical quality and patient safety leadership holds the budget and the pain. The emergency department director is the champion. IT is a gate, never the buyer.</a:t>
            </a:r>
          </a:p>
        </p:txBody>
      </p:sp>
    </p:spTree>
    <p:extLst>
      <p:ext uri="{BB962C8B-B14F-4D97-AF65-F5344CB8AC3E}">
        <p14:creationId xmlns:p14="http://schemas.microsoft.com/office/powerpoint/2010/main" val="969716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Regulatory and compliance pathway</a:t>
            </a:r>
            <a:endParaRPr lang="en-IN" sz="2000" dirty="0">
              <a:solidFill>
                <a:schemeClr val="bg1"/>
              </a:solidFill>
              <a:latin typeface="Graphik" panose="020B0503030202060203" pitchFamily="34" charset="0"/>
              <a:cs typeface="Arial" panose="020B0604020202020204" pitchFamily="34" charset="0"/>
            </a:endParaRPr>
          </a:p>
        </p:txBody>
      </p:sp>
      <p:sp>
        <p:nvSpPr>
          <p:cNvPr id="5" name="TextBox 4"/>
          <p:cNvSpPr txBox="1"/>
          <p:nvPr/>
        </p:nvSpPr>
        <p:spPr>
          <a:xfrm>
            <a:off x="365760" y="1115568"/>
            <a:ext cx="11283696" cy="365760"/>
          </a:xfrm>
          <a:prstGeom prst="rect">
            <a:avLst/>
          </a:prstGeom>
          <a:noFill/>
        </p:spPr>
        <p:txBody>
          <a:bodyPr wrap="square" lIns="0" rIns="0" tIns="0" bIns="0" anchor="t">
            <a:spAutoFit/>
          </a:bodyPr>
          <a:lstStyle/>
          <a:p>
            <a:pPr algn="l">
              <a:lnSpc>
                <a:spcPct val="112000"/>
              </a:lnSpc>
              <a:spcAft>
                <a:spcPts val="0"/>
              </a:spcAft>
            </a:pPr>
            <a:r>
              <a:rPr sz="1350" b="0">
                <a:solidFill>
                  <a:srgbClr val="1C1C22"/>
                </a:solidFill>
                <a:latin typeface="Arial"/>
              </a:rPr>
              <a:t>Positioning determines the pathway. We are building to stay inside the decision-support envelope, and the architecture is what keeps us there.</a:t>
            </a:r>
          </a:p>
        </p:txBody>
      </p:sp>
      <p:sp>
        <p:nvSpPr>
          <p:cNvPr id="6" name="Rounded Rectangle 5"/>
          <p:cNvSpPr/>
          <p:nvPr/>
        </p:nvSpPr>
        <p:spPr>
          <a:xfrm>
            <a:off x="365760" y="1618488"/>
            <a:ext cx="11283696" cy="1042415"/>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1792" y="1965960"/>
            <a:ext cx="173736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50" b="1">
                <a:solidFill>
                  <a:srgbClr val="FFFFFF"/>
                </a:solidFill>
                <a:latin typeface="Arial"/>
              </a:rPr>
              <a:t>CLASSIFICATION</a:t>
            </a:r>
          </a:p>
        </p:txBody>
      </p:sp>
      <p:sp>
        <p:nvSpPr>
          <p:cNvPr id="8" name="TextBox 7"/>
          <p:cNvSpPr txBox="1"/>
          <p:nvPr/>
        </p:nvSpPr>
        <p:spPr>
          <a:xfrm>
            <a:off x="2377440" y="1801368"/>
            <a:ext cx="9006840" cy="73152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Non-device clinical decision support: the recommendation is transparent, the basis is displayed, and a clinician can independently review it. India CDSCO and US FDA both carve this out from device regulation, and the carve-out is conditional on exactly the properties we build in.</a:t>
            </a:r>
          </a:p>
        </p:txBody>
      </p:sp>
      <p:sp>
        <p:nvSpPr>
          <p:cNvPr id="9" name="Rounded Rectangle 8"/>
          <p:cNvSpPr/>
          <p:nvPr/>
        </p:nvSpPr>
        <p:spPr>
          <a:xfrm>
            <a:off x="365760" y="2734056"/>
            <a:ext cx="11283696" cy="1042415"/>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21792" y="3081528"/>
            <a:ext cx="1737360" cy="310896"/>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50" b="1">
                <a:solidFill>
                  <a:srgbClr val="FFFFFF"/>
                </a:solidFill>
                <a:latin typeface="Arial"/>
              </a:rPr>
              <a:t>DATA PROTECTION</a:t>
            </a:r>
          </a:p>
        </p:txBody>
      </p:sp>
      <p:sp>
        <p:nvSpPr>
          <p:cNvPr id="11" name="TextBox 10"/>
          <p:cNvSpPr txBox="1"/>
          <p:nvPr/>
        </p:nvSpPr>
        <p:spPr>
          <a:xfrm>
            <a:off x="2377440" y="2916936"/>
            <a:ext cx="9006840" cy="73152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India DPDP Act 2023 for domestic deployment; HIPAA-shaped audit minimisation already implemented. A GDPR deployment additionally needs consent capture and an erasure path over the audit store. Not built.</a:t>
            </a:r>
          </a:p>
        </p:txBody>
      </p:sp>
      <p:sp>
        <p:nvSpPr>
          <p:cNvPr id="12" name="Rounded Rectangle 11"/>
          <p:cNvSpPr/>
          <p:nvPr/>
        </p:nvSpPr>
        <p:spPr>
          <a:xfrm>
            <a:off x="365760" y="3849624"/>
            <a:ext cx="11283696" cy="1042415"/>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21792" y="4197096"/>
            <a:ext cx="173736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50" b="1">
                <a:solidFill>
                  <a:srgbClr val="FFFFFF"/>
                </a:solidFill>
                <a:latin typeface="Arial"/>
              </a:rPr>
              <a:t>CLINICAL GOVERNANCE</a:t>
            </a:r>
          </a:p>
        </p:txBody>
      </p:sp>
      <p:sp>
        <p:nvSpPr>
          <p:cNvPr id="14" name="TextBox 13"/>
          <p:cNvSpPr txBox="1"/>
          <p:nvPr/>
        </p:nvSpPr>
        <p:spPr>
          <a:xfrm>
            <a:off x="2377440" y="4032504"/>
            <a:ext cx="9006840" cy="73152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Institutional ethics committee approval per site for the retrospective validation. Clinical safety case documented against the escalation-only invariant and the fallback behaviour.</a:t>
            </a:r>
          </a:p>
        </p:txBody>
      </p:sp>
      <p:sp>
        <p:nvSpPr>
          <p:cNvPr id="15" name="Rounded Rectangle 14"/>
          <p:cNvSpPr/>
          <p:nvPr/>
        </p:nvSpPr>
        <p:spPr>
          <a:xfrm>
            <a:off x="365760" y="4965192"/>
            <a:ext cx="11283696" cy="1042415"/>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21792" y="5312664"/>
            <a:ext cx="1737360" cy="310896"/>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50" b="1">
                <a:solidFill>
                  <a:srgbClr val="FFFFFF"/>
                </a:solidFill>
                <a:latin typeface="Arial"/>
              </a:rPr>
              <a:t>MODEL GOVERNANCE</a:t>
            </a:r>
          </a:p>
        </p:txBody>
      </p:sp>
      <p:sp>
        <p:nvSpPr>
          <p:cNvPr id="17" name="TextBox 16"/>
          <p:cNvSpPr txBox="1"/>
          <p:nvPr/>
        </p:nvSpPr>
        <p:spPr>
          <a:xfrm>
            <a:off x="2377440" y="5148072"/>
            <a:ext cx="9006840" cy="731520"/>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Versioned model, calibration and feature schema recorded on every decision. Drift monitoring and scheduled recalibration contracted in the Clinical tier.</a:t>
            </a:r>
          </a:p>
        </p:txBody>
      </p:sp>
      <p:sp>
        <p:nvSpPr>
          <p:cNvPr id="18" name="Rounded Rectangle 17"/>
          <p:cNvSpPr/>
          <p:nvPr/>
        </p:nvSpPr>
        <p:spPr>
          <a:xfrm>
            <a:off x="365760" y="6135623"/>
            <a:ext cx="11283696" cy="621792"/>
          </a:xfrm>
          <a:prstGeom prst="roundRect">
            <a:avLst>
              <a:gd name="adj" fmla="val 5000"/>
            </a:avLst>
          </a:prstGeom>
          <a:solidFill>
            <a:srgbClr val="FFF6F6"/>
          </a:solidFill>
          <a:ln w="12700">
            <a:solidFill>
              <a:srgbClr val="B000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6263640"/>
            <a:ext cx="10698480" cy="384048"/>
          </a:xfrm>
          <a:prstGeom prst="rect">
            <a:avLst/>
          </a:prstGeom>
          <a:noFill/>
        </p:spPr>
        <p:txBody>
          <a:bodyPr wrap="square" lIns="0" rIns="0" tIns="0" bIns="0" anchor="t">
            <a:spAutoFit/>
          </a:bodyPr>
          <a:lstStyle/>
          <a:p>
            <a:pPr algn="l">
              <a:lnSpc>
                <a:spcPct val="112000"/>
              </a:lnSpc>
              <a:spcAft>
                <a:spcPts val="0"/>
              </a:spcAft>
            </a:pPr>
            <a:r>
              <a:rPr sz="1200" b="0">
                <a:solidFill>
                  <a:srgbClr val="1C1C22"/>
                </a:solidFill>
                <a:latin typeface="Arial"/>
              </a:rPr>
              <a:t>Hard line: the moment the system assigns a band without a clinician in the loop, it becomes a regulated device. We are not building that product and the architecture forecloses it.</a:t>
            </a:r>
          </a:p>
        </p:txBody>
      </p:sp>
    </p:spTree>
    <p:extLst>
      <p:ext uri="{BB962C8B-B14F-4D97-AF65-F5344CB8AC3E}">
        <p14:creationId xmlns:p14="http://schemas.microsoft.com/office/powerpoint/2010/main" val="969716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Roadmap</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2697480" cy="4434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85216" y="1335024"/>
            <a:ext cx="1051560" cy="310896"/>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Arial"/>
              </a:rPr>
              <a:t>Q1</a:t>
            </a:r>
          </a:p>
        </p:txBody>
      </p:sp>
      <p:sp>
        <p:nvSpPr>
          <p:cNvPr id="7" name="TextBox 6"/>
          <p:cNvSpPr txBox="1"/>
          <p:nvPr/>
        </p:nvSpPr>
        <p:spPr>
          <a:xfrm>
            <a:off x="585216" y="1792224"/>
            <a:ext cx="2258568" cy="548640"/>
          </a:xfrm>
          <a:prstGeom prst="rect">
            <a:avLst/>
          </a:prstGeom>
          <a:noFill/>
        </p:spPr>
        <p:txBody>
          <a:bodyPr wrap="square" lIns="0" rIns="0" tIns="0" bIns="0" anchor="t">
            <a:spAutoFit/>
          </a:bodyPr>
          <a:lstStyle/>
          <a:p>
            <a:pPr algn="l">
              <a:lnSpc>
                <a:spcPct val="112000"/>
              </a:lnSpc>
              <a:spcAft>
                <a:spcPts val="0"/>
              </a:spcAft>
            </a:pPr>
            <a:r>
              <a:rPr sz="1300" b="1">
                <a:solidFill>
                  <a:srgbClr val="A100FF"/>
                </a:solidFill>
                <a:latin typeface="Arial"/>
              </a:rPr>
              <a:t>Correct and re-benchmark</a:t>
            </a:r>
          </a:p>
        </p:txBody>
      </p:sp>
      <p:sp>
        <p:nvSpPr>
          <p:cNvPr id="8" name="Oval 7"/>
          <p:cNvSpPr/>
          <p:nvPr/>
        </p:nvSpPr>
        <p:spPr>
          <a:xfrm>
            <a:off x="603504" y="2532887"/>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9" name="TextBox 8"/>
          <p:cNvSpPr txBox="1"/>
          <p:nvPr/>
        </p:nvSpPr>
        <p:spPr>
          <a:xfrm>
            <a:off x="841248" y="2487168"/>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Fix the label-imputation artifact</a:t>
            </a:r>
          </a:p>
        </p:txBody>
      </p:sp>
      <p:sp>
        <p:nvSpPr>
          <p:cNvPr id="10" name="Oval 9"/>
          <p:cNvSpPr/>
          <p:nvPr/>
        </p:nvSpPr>
        <p:spPr>
          <a:xfrm>
            <a:off x="603504" y="3282695"/>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1" name="TextBox 10"/>
          <p:cNvSpPr txBox="1"/>
          <p:nvPr/>
        </p:nvSpPr>
        <p:spPr>
          <a:xfrm>
            <a:off x="841248" y="3236975"/>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Re-run baselines and cost sweep</a:t>
            </a:r>
          </a:p>
        </p:txBody>
      </p:sp>
      <p:sp>
        <p:nvSpPr>
          <p:cNvPr id="12" name="Oval 11"/>
          <p:cNvSpPr/>
          <p:nvPr/>
        </p:nvSpPr>
        <p:spPr>
          <a:xfrm>
            <a:off x="603504" y="4032503"/>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3" name="TextBox 12"/>
          <p:cNvSpPr txBox="1"/>
          <p:nvPr/>
        </p:nvSpPr>
        <p:spPr>
          <a:xfrm>
            <a:off x="841248" y="3986783"/>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Publish corrected metrics with ablation</a:t>
            </a:r>
          </a:p>
        </p:txBody>
      </p:sp>
      <p:sp>
        <p:nvSpPr>
          <p:cNvPr id="14" name="Oval 13"/>
          <p:cNvSpPr/>
          <p:nvPr/>
        </p:nvSpPr>
        <p:spPr>
          <a:xfrm>
            <a:off x="603504" y="4782312"/>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5" name="TextBox 14"/>
          <p:cNvSpPr txBox="1"/>
          <p:nvPr/>
        </p:nvSpPr>
        <p:spPr>
          <a:xfrm>
            <a:off x="841248" y="4736592"/>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Add threshold-consistency test between critical and severity paths</a:t>
            </a:r>
          </a:p>
        </p:txBody>
      </p:sp>
      <p:sp>
        <p:nvSpPr>
          <p:cNvPr id="16" name="Rounded Rectangle 15"/>
          <p:cNvSpPr/>
          <p:nvPr/>
        </p:nvSpPr>
        <p:spPr>
          <a:xfrm>
            <a:off x="3227832" y="1115568"/>
            <a:ext cx="2697480" cy="4434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47287" y="1335024"/>
            <a:ext cx="105156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Arial"/>
              </a:rPr>
              <a:t>Q2</a:t>
            </a:r>
          </a:p>
        </p:txBody>
      </p:sp>
      <p:sp>
        <p:nvSpPr>
          <p:cNvPr id="18" name="TextBox 17"/>
          <p:cNvSpPr txBox="1"/>
          <p:nvPr/>
        </p:nvSpPr>
        <p:spPr>
          <a:xfrm>
            <a:off x="3447287" y="1792224"/>
            <a:ext cx="2258568"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Clinical partner and real data</a:t>
            </a:r>
          </a:p>
        </p:txBody>
      </p:sp>
      <p:sp>
        <p:nvSpPr>
          <p:cNvPr id="19" name="Oval 18"/>
          <p:cNvSpPr/>
          <p:nvPr/>
        </p:nvSpPr>
        <p:spPr>
          <a:xfrm>
            <a:off x="3465576" y="2532887"/>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0" name="TextBox 19"/>
          <p:cNvSpPr txBox="1"/>
          <p:nvPr/>
        </p:nvSpPr>
        <p:spPr>
          <a:xfrm>
            <a:off x="3703320" y="2487168"/>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Sign two shadow-mode sites</a:t>
            </a:r>
          </a:p>
        </p:txBody>
      </p:sp>
      <p:sp>
        <p:nvSpPr>
          <p:cNvPr id="21" name="Oval 20"/>
          <p:cNvSpPr/>
          <p:nvPr/>
        </p:nvSpPr>
        <p:spPr>
          <a:xfrm>
            <a:off x="3465576" y="3282695"/>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2" name="TextBox 21"/>
          <p:cNvSpPr txBox="1"/>
          <p:nvPr/>
        </p:nvSpPr>
        <p:spPr>
          <a:xfrm>
            <a:off x="3703320" y="3236975"/>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Ethics approval and data agreements</a:t>
            </a:r>
          </a:p>
        </p:txBody>
      </p:sp>
      <p:sp>
        <p:nvSpPr>
          <p:cNvPr id="23" name="Oval 22"/>
          <p:cNvSpPr/>
          <p:nvPr/>
        </p:nvSpPr>
        <p:spPr>
          <a:xfrm>
            <a:off x="3465576" y="4032503"/>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4" name="TextBox 23"/>
          <p:cNvSpPr txBox="1"/>
          <p:nvPr/>
        </p:nvSpPr>
        <p:spPr>
          <a:xfrm>
            <a:off x="3703320" y="3986783"/>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Retrospective run on de-identified encounters</a:t>
            </a:r>
          </a:p>
        </p:txBody>
      </p:sp>
      <p:sp>
        <p:nvSpPr>
          <p:cNvPr id="25" name="Oval 24"/>
          <p:cNvSpPr/>
          <p:nvPr/>
        </p:nvSpPr>
        <p:spPr>
          <a:xfrm>
            <a:off x="3465576" y="4782312"/>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6" name="TextBox 25"/>
          <p:cNvSpPr txBox="1"/>
          <p:nvPr/>
        </p:nvSpPr>
        <p:spPr>
          <a:xfrm>
            <a:off x="3703320" y="4736592"/>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Replace synthetic prevalence with site prevalence</a:t>
            </a:r>
          </a:p>
        </p:txBody>
      </p:sp>
      <p:sp>
        <p:nvSpPr>
          <p:cNvPr id="27" name="Rounded Rectangle 26"/>
          <p:cNvSpPr/>
          <p:nvPr/>
        </p:nvSpPr>
        <p:spPr>
          <a:xfrm>
            <a:off x="6089904" y="1115568"/>
            <a:ext cx="2697480" cy="4434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309360" y="1335024"/>
            <a:ext cx="1051560" cy="310896"/>
          </a:xfrm>
          <a:prstGeom prst="roundRect">
            <a:avLst>
              <a:gd name="adj" fmla="val 25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Arial"/>
              </a:rPr>
              <a:t>Q3–Q4</a:t>
            </a:r>
          </a:p>
        </p:txBody>
      </p:sp>
      <p:sp>
        <p:nvSpPr>
          <p:cNvPr id="29" name="TextBox 28"/>
          <p:cNvSpPr txBox="1"/>
          <p:nvPr/>
        </p:nvSpPr>
        <p:spPr>
          <a:xfrm>
            <a:off x="6309360" y="1792224"/>
            <a:ext cx="2258568" cy="548640"/>
          </a:xfrm>
          <a:prstGeom prst="rect">
            <a:avLst/>
          </a:prstGeom>
          <a:noFill/>
        </p:spPr>
        <p:txBody>
          <a:bodyPr wrap="square" lIns="0" rIns="0" tIns="0" bIns="0" anchor="t">
            <a:spAutoFit/>
          </a:bodyPr>
          <a:lstStyle/>
          <a:p>
            <a:pPr algn="l">
              <a:lnSpc>
                <a:spcPct val="112000"/>
              </a:lnSpc>
              <a:spcAft>
                <a:spcPts val="0"/>
              </a:spcAft>
            </a:pPr>
            <a:r>
              <a:rPr sz="1300" b="1">
                <a:solidFill>
                  <a:srgbClr val="A100FF"/>
                </a:solidFill>
                <a:latin typeface="Arial"/>
              </a:rPr>
              <a:t>Harden for the ward</a:t>
            </a:r>
          </a:p>
        </p:txBody>
      </p:sp>
      <p:sp>
        <p:nvSpPr>
          <p:cNvPr id="30" name="Oval 29"/>
          <p:cNvSpPr/>
          <p:nvPr/>
        </p:nvSpPr>
        <p:spPr>
          <a:xfrm>
            <a:off x="6327648" y="2532887"/>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1" name="TextBox 30"/>
          <p:cNvSpPr txBox="1"/>
          <p:nvPr/>
        </p:nvSpPr>
        <p:spPr>
          <a:xfrm>
            <a:off x="6565392" y="2487168"/>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Sub-band pediatric physiology by age in months</a:t>
            </a:r>
          </a:p>
        </p:txBody>
      </p:sp>
      <p:sp>
        <p:nvSpPr>
          <p:cNvPr id="32" name="Oval 31"/>
          <p:cNvSpPr/>
          <p:nvPr/>
        </p:nvSpPr>
        <p:spPr>
          <a:xfrm>
            <a:off x="6327648" y="3282695"/>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3" name="TextBox 32"/>
          <p:cNvSpPr txBox="1"/>
          <p:nvPr/>
        </p:nvSpPr>
        <p:spPr>
          <a:xfrm>
            <a:off x="6565392" y="3236975"/>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Temperature and shock-index redlines</a:t>
            </a:r>
          </a:p>
        </p:txBody>
      </p:sp>
      <p:sp>
        <p:nvSpPr>
          <p:cNvPr id="34" name="Oval 33"/>
          <p:cNvSpPr/>
          <p:nvPr/>
        </p:nvSpPr>
        <p:spPr>
          <a:xfrm>
            <a:off x="6327648" y="4032503"/>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5" name="TextBox 34"/>
          <p:cNvSpPr txBox="1"/>
          <p:nvPr/>
        </p:nvSpPr>
        <p:spPr>
          <a:xfrm>
            <a:off x="6565392" y="3986783"/>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EHR and ADT integration</a:t>
            </a:r>
          </a:p>
        </p:txBody>
      </p:sp>
      <p:sp>
        <p:nvSpPr>
          <p:cNvPr id="36" name="Oval 35"/>
          <p:cNvSpPr/>
          <p:nvPr/>
        </p:nvSpPr>
        <p:spPr>
          <a:xfrm>
            <a:off x="6327648" y="4782312"/>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37" name="TextBox 36"/>
          <p:cNvSpPr txBox="1"/>
          <p:nvPr/>
        </p:nvSpPr>
        <p:spPr>
          <a:xfrm>
            <a:off x="6565392" y="4736592"/>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Drift monitoring and scheduled recalibration</a:t>
            </a:r>
          </a:p>
        </p:txBody>
      </p:sp>
      <p:sp>
        <p:nvSpPr>
          <p:cNvPr id="38" name="Rounded Rectangle 37"/>
          <p:cNvSpPr/>
          <p:nvPr/>
        </p:nvSpPr>
        <p:spPr>
          <a:xfrm>
            <a:off x="8951976" y="1115568"/>
            <a:ext cx="2697480" cy="44348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9171432" y="1335024"/>
            <a:ext cx="1051560" cy="310896"/>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Arial"/>
              </a:rPr>
              <a:t>Year 2</a:t>
            </a:r>
          </a:p>
        </p:txBody>
      </p:sp>
      <p:sp>
        <p:nvSpPr>
          <p:cNvPr id="40" name="TextBox 39"/>
          <p:cNvSpPr txBox="1"/>
          <p:nvPr/>
        </p:nvSpPr>
        <p:spPr>
          <a:xfrm>
            <a:off x="9171432" y="1792224"/>
            <a:ext cx="2258568" cy="548640"/>
          </a:xfrm>
          <a:prstGeom prst="rect">
            <a:avLst/>
          </a:prstGeom>
          <a:noFill/>
        </p:spPr>
        <p:txBody>
          <a:bodyPr wrap="square" lIns="0" rIns="0" tIns="0" bIns="0" anchor="t">
            <a:spAutoFit/>
          </a:bodyPr>
          <a:lstStyle/>
          <a:p>
            <a:pPr algn="l">
              <a:lnSpc>
                <a:spcPct val="112000"/>
              </a:lnSpc>
              <a:spcAft>
                <a:spcPts val="0"/>
              </a:spcAft>
            </a:pPr>
            <a:r>
              <a:rPr sz="1300" b="1">
                <a:solidFill>
                  <a:srgbClr val="6A00A8"/>
                </a:solidFill>
                <a:latin typeface="Arial"/>
              </a:rPr>
              <a:t>Evidence and scale</a:t>
            </a:r>
          </a:p>
        </p:txBody>
      </p:sp>
      <p:sp>
        <p:nvSpPr>
          <p:cNvPr id="41" name="Oval 40"/>
          <p:cNvSpPr/>
          <p:nvPr/>
        </p:nvSpPr>
        <p:spPr>
          <a:xfrm>
            <a:off x="9189719" y="2532887"/>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2" name="TextBox 41"/>
          <p:cNvSpPr txBox="1"/>
          <p:nvPr/>
        </p:nvSpPr>
        <p:spPr>
          <a:xfrm>
            <a:off x="9427463" y="2487168"/>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Prospective shadow evaluation</a:t>
            </a:r>
          </a:p>
        </p:txBody>
      </p:sp>
      <p:sp>
        <p:nvSpPr>
          <p:cNvPr id="43" name="Oval 42"/>
          <p:cNvSpPr/>
          <p:nvPr/>
        </p:nvSpPr>
        <p:spPr>
          <a:xfrm>
            <a:off x="9189719" y="3282695"/>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4" name="TextBox 43"/>
          <p:cNvSpPr txBox="1"/>
          <p:nvPr/>
        </p:nvSpPr>
        <p:spPr>
          <a:xfrm>
            <a:off x="9427463" y="3236975"/>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Co-authored publication with pilot sites</a:t>
            </a:r>
          </a:p>
        </p:txBody>
      </p:sp>
      <p:sp>
        <p:nvSpPr>
          <p:cNvPr id="45" name="Oval 44"/>
          <p:cNvSpPr/>
          <p:nvPr/>
        </p:nvSpPr>
        <p:spPr>
          <a:xfrm>
            <a:off x="9189719" y="4032503"/>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6" name="TextBox 45"/>
          <p:cNvSpPr txBox="1"/>
          <p:nvPr/>
        </p:nvSpPr>
        <p:spPr>
          <a:xfrm>
            <a:off x="9427463" y="3986783"/>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Network tier and governance dashboard</a:t>
            </a:r>
          </a:p>
        </p:txBody>
      </p:sp>
      <p:sp>
        <p:nvSpPr>
          <p:cNvPr id="47" name="Oval 46"/>
          <p:cNvSpPr/>
          <p:nvPr/>
        </p:nvSpPr>
        <p:spPr>
          <a:xfrm>
            <a:off x="9189719" y="4782312"/>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48" name="TextBox 47"/>
          <p:cNvSpPr txBox="1"/>
          <p:nvPr/>
        </p:nvSpPr>
        <p:spPr>
          <a:xfrm>
            <a:off x="9427463" y="4736592"/>
            <a:ext cx="2002536" cy="777240"/>
          </a:xfrm>
          <a:prstGeom prst="rect">
            <a:avLst/>
          </a:prstGeom>
          <a:noFill/>
        </p:spPr>
        <p:txBody>
          <a:bodyPr wrap="square" lIns="0" rIns="0" tIns="0" bIns="0" anchor="t">
            <a:spAutoFit/>
          </a:bodyPr>
          <a:lstStyle/>
          <a:p>
            <a:pPr algn="l">
              <a:lnSpc>
                <a:spcPct val="112000"/>
              </a:lnSpc>
              <a:spcAft>
                <a:spcPts val="0"/>
              </a:spcAft>
            </a:pPr>
            <a:r>
              <a:rPr sz="1100" b="0">
                <a:solidFill>
                  <a:srgbClr val="1C1C22"/>
                </a:solidFill>
                <a:latin typeface="Arial"/>
              </a:rPr>
              <a:t>Second-language free-text extraction</a:t>
            </a:r>
          </a:p>
        </p:txBody>
      </p:sp>
      <p:sp>
        <p:nvSpPr>
          <p:cNvPr id="49" name="TextBox 48"/>
          <p:cNvSpPr txBox="1"/>
          <p:nvPr/>
        </p:nvSpPr>
        <p:spPr>
          <a:xfrm>
            <a:off x="365760" y="6419088"/>
            <a:ext cx="11283696" cy="256032"/>
          </a:xfrm>
          <a:prstGeom prst="rect">
            <a:avLst/>
          </a:prstGeom>
          <a:noFill/>
        </p:spPr>
        <p:txBody>
          <a:bodyPr wrap="square" lIns="0" rIns="0" tIns="0" bIns="0" anchor="t">
            <a:spAutoFit/>
          </a:bodyPr>
          <a:lstStyle/>
          <a:p>
            <a:pPr algn="l">
              <a:lnSpc>
                <a:spcPct val="112000"/>
              </a:lnSpc>
              <a:spcAft>
                <a:spcPts val="0"/>
              </a:spcAft>
            </a:pPr>
            <a:r>
              <a:rPr sz="850" b="0">
                <a:solidFill>
                  <a:srgbClr val="5F5F70"/>
                </a:solidFill>
                <a:latin typeface="Arial"/>
              </a:rPr>
              <a:t>The first quarter is spent correcting our own benchmark rather than adding features. That sequencing is deliberate.</a:t>
            </a:r>
          </a:p>
        </p:txBody>
      </p:sp>
    </p:spTree>
    <p:extLst>
      <p:ext uri="{BB962C8B-B14F-4D97-AF65-F5344CB8AC3E}">
        <p14:creationId xmlns:p14="http://schemas.microsoft.com/office/powerpoint/2010/main" val="969716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Risks and mitigations</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11283696" cy="384048"/>
          </a:xfrm>
          <a:prstGeom prst="roundRect">
            <a:avLst>
              <a:gd name="adj" fmla="val 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5216" y="1197864"/>
            <a:ext cx="2743200" cy="237744"/>
          </a:xfrm>
          <a:prstGeom prst="rect">
            <a:avLst/>
          </a:prstGeom>
          <a:noFill/>
        </p:spPr>
        <p:txBody>
          <a:bodyPr wrap="square" lIns="0" rIns="0" tIns="0" bIns="0" anchor="t">
            <a:spAutoFit/>
          </a:bodyPr>
          <a:lstStyle/>
          <a:p>
            <a:pPr algn="l">
              <a:lnSpc>
                <a:spcPct val="112000"/>
              </a:lnSpc>
              <a:spcAft>
                <a:spcPts val="0"/>
              </a:spcAft>
            </a:pPr>
            <a:r>
              <a:rPr sz="1000" b="1">
                <a:solidFill>
                  <a:srgbClr val="FFFFFF"/>
                </a:solidFill>
                <a:latin typeface="Arial"/>
              </a:rPr>
              <a:t>RISK</a:t>
            </a:r>
          </a:p>
        </p:txBody>
      </p:sp>
      <p:sp>
        <p:nvSpPr>
          <p:cNvPr id="7" name="TextBox 6"/>
          <p:cNvSpPr txBox="1"/>
          <p:nvPr/>
        </p:nvSpPr>
        <p:spPr>
          <a:xfrm>
            <a:off x="3611880" y="1197864"/>
            <a:ext cx="640080" cy="237744"/>
          </a:xfrm>
          <a:prstGeom prst="rect">
            <a:avLst/>
          </a:prstGeom>
          <a:noFill/>
        </p:spPr>
        <p:txBody>
          <a:bodyPr wrap="square" lIns="0" rIns="0" tIns="0" bIns="0" anchor="t">
            <a:spAutoFit/>
          </a:bodyPr>
          <a:lstStyle/>
          <a:p>
            <a:pPr algn="l">
              <a:lnSpc>
                <a:spcPct val="112000"/>
              </a:lnSpc>
              <a:spcAft>
                <a:spcPts val="0"/>
              </a:spcAft>
            </a:pPr>
            <a:r>
              <a:rPr sz="1000" b="1">
                <a:solidFill>
                  <a:srgbClr val="FFFFFF"/>
                </a:solidFill>
                <a:latin typeface="Arial"/>
              </a:rPr>
              <a:t>SEV</a:t>
            </a:r>
          </a:p>
        </p:txBody>
      </p:sp>
      <p:sp>
        <p:nvSpPr>
          <p:cNvPr id="8" name="TextBox 7"/>
          <p:cNvSpPr txBox="1"/>
          <p:nvPr/>
        </p:nvSpPr>
        <p:spPr>
          <a:xfrm>
            <a:off x="4343400" y="1197864"/>
            <a:ext cx="3200400" cy="237744"/>
          </a:xfrm>
          <a:prstGeom prst="rect">
            <a:avLst/>
          </a:prstGeom>
          <a:noFill/>
        </p:spPr>
        <p:txBody>
          <a:bodyPr wrap="square" lIns="0" rIns="0" tIns="0" bIns="0" anchor="t">
            <a:spAutoFit/>
          </a:bodyPr>
          <a:lstStyle/>
          <a:p>
            <a:pPr algn="l">
              <a:lnSpc>
                <a:spcPct val="112000"/>
              </a:lnSpc>
              <a:spcAft>
                <a:spcPts val="0"/>
              </a:spcAft>
            </a:pPr>
            <a:r>
              <a:rPr sz="1000" b="1">
                <a:solidFill>
                  <a:srgbClr val="FFFFFF"/>
                </a:solidFill>
                <a:latin typeface="Arial"/>
              </a:rPr>
              <a:t>WHY IT MATTERS</a:t>
            </a:r>
          </a:p>
        </p:txBody>
      </p:sp>
      <p:sp>
        <p:nvSpPr>
          <p:cNvPr id="9" name="TextBox 8"/>
          <p:cNvSpPr txBox="1"/>
          <p:nvPr/>
        </p:nvSpPr>
        <p:spPr>
          <a:xfrm>
            <a:off x="7863840" y="1197864"/>
            <a:ext cx="3566160" cy="237744"/>
          </a:xfrm>
          <a:prstGeom prst="rect">
            <a:avLst/>
          </a:prstGeom>
          <a:noFill/>
        </p:spPr>
        <p:txBody>
          <a:bodyPr wrap="square" lIns="0" rIns="0" tIns="0" bIns="0" anchor="t">
            <a:spAutoFit/>
          </a:bodyPr>
          <a:lstStyle/>
          <a:p>
            <a:pPr algn="l">
              <a:lnSpc>
                <a:spcPct val="112000"/>
              </a:lnSpc>
              <a:spcAft>
                <a:spcPts val="0"/>
              </a:spcAft>
            </a:pPr>
            <a:r>
              <a:rPr sz="1000" b="1">
                <a:solidFill>
                  <a:srgbClr val="FFFFFF"/>
                </a:solidFill>
                <a:latin typeface="Arial"/>
              </a:rPr>
              <a:t>MITIGATION</a:t>
            </a:r>
          </a:p>
        </p:txBody>
      </p:sp>
      <p:sp>
        <p:nvSpPr>
          <p:cNvPr id="10" name="Rounded Rectangle 9"/>
          <p:cNvSpPr/>
          <p:nvPr/>
        </p:nvSpPr>
        <p:spPr>
          <a:xfrm>
            <a:off x="365760" y="1572768"/>
            <a:ext cx="11283696" cy="89611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5216" y="1755648"/>
            <a:ext cx="3063240" cy="566928"/>
          </a:xfrm>
          <a:prstGeom prst="rect">
            <a:avLst/>
          </a:prstGeom>
          <a:noFill/>
        </p:spPr>
        <p:txBody>
          <a:bodyPr wrap="square" lIns="0" rIns="0" tIns="0" bIns="0" anchor="t">
            <a:spAutoFit/>
          </a:bodyPr>
          <a:lstStyle/>
          <a:p>
            <a:pPr algn="l">
              <a:lnSpc>
                <a:spcPct val="112000"/>
              </a:lnSpc>
              <a:spcAft>
                <a:spcPts val="0"/>
              </a:spcAft>
            </a:pPr>
            <a:r>
              <a:rPr sz="1200" b="1">
                <a:solidFill>
                  <a:srgbClr val="1C1C22"/>
                </a:solidFill>
                <a:latin typeface="Arial"/>
              </a:rPr>
              <a:t>Synthetic-to-real performance collapse</a:t>
            </a:r>
          </a:p>
        </p:txBody>
      </p:sp>
      <p:sp>
        <p:nvSpPr>
          <p:cNvPr id="12" name="Rounded Rectangle 11"/>
          <p:cNvSpPr/>
          <p:nvPr/>
        </p:nvSpPr>
        <p:spPr>
          <a:xfrm>
            <a:off x="3566160" y="1847088"/>
            <a:ext cx="566928" cy="274320"/>
          </a:xfrm>
          <a:prstGeom prst="roundRect">
            <a:avLst>
              <a:gd name="adj" fmla="val 25000"/>
            </a:avLst>
          </a:prstGeom>
          <a:solidFill>
            <a:srgbClr val="B00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50" b="1">
                <a:solidFill>
                  <a:srgbClr val="FFFFFF"/>
                </a:solidFill>
                <a:latin typeface="Arial"/>
              </a:rPr>
              <a:t>HIGH</a:t>
            </a:r>
          </a:p>
        </p:txBody>
      </p:sp>
      <p:sp>
        <p:nvSpPr>
          <p:cNvPr id="13" name="TextBox 12"/>
          <p:cNvSpPr txBox="1"/>
          <p:nvPr/>
        </p:nvSpPr>
        <p:spPr>
          <a:xfrm>
            <a:off x="4343400" y="1719072"/>
            <a:ext cx="3337560" cy="658368"/>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Real prevalence, noise and correlation structure differ from simulation. Headline numbers may not survive contact with a real cohort.</a:t>
            </a:r>
          </a:p>
        </p:txBody>
      </p:sp>
      <p:sp>
        <p:nvSpPr>
          <p:cNvPr id="14" name="TextBox 13"/>
          <p:cNvSpPr txBox="1"/>
          <p:nvPr/>
        </p:nvSpPr>
        <p:spPr>
          <a:xfrm>
            <a:off x="7863840" y="1719072"/>
            <a:ext cx="3566160" cy="658368"/>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Shadow mode first, retrospective validation before any live influence, and a published corrected benchmark before a site sees a recommendation.</a:t>
            </a:r>
          </a:p>
        </p:txBody>
      </p:sp>
      <p:sp>
        <p:nvSpPr>
          <p:cNvPr id="15" name="Rounded Rectangle 14"/>
          <p:cNvSpPr/>
          <p:nvPr/>
        </p:nvSpPr>
        <p:spPr>
          <a:xfrm>
            <a:off x="365760" y="2542032"/>
            <a:ext cx="11283696" cy="896112"/>
          </a:xfrm>
          <a:prstGeom prst="roundRect">
            <a:avLst>
              <a:gd name="adj" fmla="val 5000"/>
            </a:avLst>
          </a:prstGeom>
          <a:solidFill>
            <a:srgbClr val="FFFF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724912"/>
            <a:ext cx="3063240" cy="566928"/>
          </a:xfrm>
          <a:prstGeom prst="rect">
            <a:avLst/>
          </a:prstGeom>
          <a:noFill/>
        </p:spPr>
        <p:txBody>
          <a:bodyPr wrap="square" lIns="0" rIns="0" tIns="0" bIns="0" anchor="t">
            <a:spAutoFit/>
          </a:bodyPr>
          <a:lstStyle/>
          <a:p>
            <a:pPr algn="l">
              <a:lnSpc>
                <a:spcPct val="112000"/>
              </a:lnSpc>
              <a:spcAft>
                <a:spcPts val="0"/>
              </a:spcAft>
            </a:pPr>
            <a:r>
              <a:rPr sz="1200" b="1">
                <a:solidFill>
                  <a:srgbClr val="1C1C22"/>
                </a:solidFill>
                <a:latin typeface="Arial"/>
              </a:rPr>
              <a:t>Over-triage floods capacity</a:t>
            </a:r>
          </a:p>
        </p:txBody>
      </p:sp>
      <p:sp>
        <p:nvSpPr>
          <p:cNvPr id="17" name="Rounded Rectangle 16"/>
          <p:cNvSpPr/>
          <p:nvPr/>
        </p:nvSpPr>
        <p:spPr>
          <a:xfrm>
            <a:off x="3566160" y="2816352"/>
            <a:ext cx="566928" cy="274320"/>
          </a:xfrm>
          <a:prstGeom prst="roundRect">
            <a:avLst>
              <a:gd name="adj" fmla="val 25000"/>
            </a:avLst>
          </a:prstGeom>
          <a:solidFill>
            <a:srgbClr val="B000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50" b="1">
                <a:solidFill>
                  <a:srgbClr val="FFFFFF"/>
                </a:solidFill>
                <a:latin typeface="Arial"/>
              </a:rPr>
              <a:t>HIGH</a:t>
            </a:r>
          </a:p>
        </p:txBody>
      </p:sp>
      <p:sp>
        <p:nvSpPr>
          <p:cNvPr id="18" name="TextBox 17"/>
          <p:cNvSpPr txBox="1"/>
          <p:nvPr/>
        </p:nvSpPr>
        <p:spPr>
          <a:xfrm>
            <a:off x="4343400" y="2688336"/>
            <a:ext cx="3337560" cy="658368"/>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A 6x critical weight buys recall with precision. In a capacity-constrained ED, over-triage is not free.</a:t>
            </a:r>
          </a:p>
        </p:txBody>
      </p:sp>
      <p:sp>
        <p:nvSpPr>
          <p:cNvPr id="19" name="TextBox 18"/>
          <p:cNvSpPr txBox="1"/>
          <p:nvPr/>
        </p:nvSpPr>
        <p:spPr>
          <a:xfrm>
            <a:off x="7863840" y="2688336"/>
            <a:ext cx="3566160" cy="658368"/>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Operating point is re-selected per site on that site's own cost curve, not inherited. Over-triage rate is a contracted monitored metric.</a:t>
            </a:r>
          </a:p>
        </p:txBody>
      </p:sp>
      <p:sp>
        <p:nvSpPr>
          <p:cNvPr id="20" name="Rounded Rectangle 19"/>
          <p:cNvSpPr/>
          <p:nvPr/>
        </p:nvSpPr>
        <p:spPr>
          <a:xfrm>
            <a:off x="365760" y="3511296"/>
            <a:ext cx="11283696" cy="89611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5216" y="3694176"/>
            <a:ext cx="3063240" cy="566928"/>
          </a:xfrm>
          <a:prstGeom prst="rect">
            <a:avLst/>
          </a:prstGeom>
          <a:noFill/>
        </p:spPr>
        <p:txBody>
          <a:bodyPr wrap="square" lIns="0" rIns="0" tIns="0" bIns="0" anchor="t">
            <a:spAutoFit/>
          </a:bodyPr>
          <a:lstStyle/>
          <a:p>
            <a:pPr algn="l">
              <a:lnSpc>
                <a:spcPct val="112000"/>
              </a:lnSpc>
              <a:spcAft>
                <a:spcPts val="0"/>
              </a:spcAft>
            </a:pPr>
            <a:r>
              <a:rPr sz="1200" b="1">
                <a:solidFill>
                  <a:srgbClr val="1C1C22"/>
                </a:solidFill>
                <a:latin typeface="Arial"/>
              </a:rPr>
              <a:t>Alert fatigue erodes the gate</a:t>
            </a:r>
          </a:p>
        </p:txBody>
      </p:sp>
      <p:sp>
        <p:nvSpPr>
          <p:cNvPr id="22" name="Rounded Rectangle 21"/>
          <p:cNvSpPr/>
          <p:nvPr/>
        </p:nvSpPr>
        <p:spPr>
          <a:xfrm>
            <a:off x="3566160" y="3785616"/>
            <a:ext cx="566928" cy="274320"/>
          </a:xfrm>
          <a:prstGeom prst="roundRect">
            <a:avLst>
              <a:gd name="adj" fmla="val 25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50" b="1">
                <a:solidFill>
                  <a:srgbClr val="FFFFFF"/>
                </a:solidFill>
                <a:latin typeface="Arial"/>
              </a:rPr>
              <a:t>MED</a:t>
            </a:r>
          </a:p>
        </p:txBody>
      </p:sp>
      <p:sp>
        <p:nvSpPr>
          <p:cNvPr id="23" name="TextBox 22"/>
          <p:cNvSpPr txBox="1"/>
          <p:nvPr/>
        </p:nvSpPr>
        <p:spPr>
          <a:xfrm>
            <a:off x="4343400" y="3657600"/>
            <a:ext cx="3337560" cy="658368"/>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If the Safety Gate escalates too often, clinicians learn to downgrade reflexively and the safety property becomes theatre.</a:t>
            </a:r>
          </a:p>
        </p:txBody>
      </p:sp>
      <p:sp>
        <p:nvSpPr>
          <p:cNvPr id="24" name="TextBox 23"/>
          <p:cNvSpPr txBox="1"/>
          <p:nvPr/>
        </p:nvSpPr>
        <p:spPr>
          <a:xfrm>
            <a:off x="7863840" y="3657600"/>
            <a:ext cx="3566160" cy="658368"/>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Downgrade reason codes are structured and reviewed. A rising downgrade rate against a specific trigger is a signal to retune that rule, not to ignore it.</a:t>
            </a:r>
          </a:p>
        </p:txBody>
      </p:sp>
      <p:sp>
        <p:nvSpPr>
          <p:cNvPr id="25" name="Rounded Rectangle 24"/>
          <p:cNvSpPr/>
          <p:nvPr/>
        </p:nvSpPr>
        <p:spPr>
          <a:xfrm>
            <a:off x="365760" y="4480560"/>
            <a:ext cx="11283696" cy="896112"/>
          </a:xfrm>
          <a:prstGeom prst="roundRect">
            <a:avLst>
              <a:gd name="adj" fmla="val 5000"/>
            </a:avLst>
          </a:prstGeom>
          <a:solidFill>
            <a:srgbClr val="FFFF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85216" y="4663440"/>
            <a:ext cx="3063240" cy="566928"/>
          </a:xfrm>
          <a:prstGeom prst="rect">
            <a:avLst/>
          </a:prstGeom>
          <a:noFill/>
        </p:spPr>
        <p:txBody>
          <a:bodyPr wrap="square" lIns="0" rIns="0" tIns="0" bIns="0" anchor="t">
            <a:spAutoFit/>
          </a:bodyPr>
          <a:lstStyle/>
          <a:p>
            <a:pPr algn="l">
              <a:lnSpc>
                <a:spcPct val="112000"/>
              </a:lnSpc>
              <a:spcAft>
                <a:spcPts val="0"/>
              </a:spcAft>
            </a:pPr>
            <a:r>
              <a:rPr sz="1200" b="1">
                <a:solidFill>
                  <a:srgbClr val="1C1C22"/>
                </a:solidFill>
                <a:latin typeface="Arial"/>
              </a:rPr>
              <a:t>Pulse-oximetry bias</a:t>
            </a:r>
          </a:p>
        </p:txBody>
      </p:sp>
      <p:sp>
        <p:nvSpPr>
          <p:cNvPr id="27" name="Rounded Rectangle 26"/>
          <p:cNvSpPr/>
          <p:nvPr/>
        </p:nvSpPr>
        <p:spPr>
          <a:xfrm>
            <a:off x="3566160" y="4754880"/>
            <a:ext cx="566928" cy="274320"/>
          </a:xfrm>
          <a:prstGeom prst="roundRect">
            <a:avLst>
              <a:gd name="adj" fmla="val 25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50" b="1">
                <a:solidFill>
                  <a:srgbClr val="FFFFFF"/>
                </a:solidFill>
                <a:latin typeface="Arial"/>
              </a:rPr>
              <a:t>MED</a:t>
            </a:r>
          </a:p>
        </p:txBody>
      </p:sp>
      <p:sp>
        <p:nvSpPr>
          <p:cNvPr id="28" name="TextBox 27"/>
          <p:cNvSpPr txBox="1"/>
          <p:nvPr/>
        </p:nvSpPr>
        <p:spPr>
          <a:xfrm>
            <a:off x="4343400" y="4626864"/>
            <a:ext cx="3337560" cy="658368"/>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SpO₂ carries heavy weight and has documented population-dependent accuracy limits.</a:t>
            </a:r>
          </a:p>
        </p:txBody>
      </p:sp>
      <p:sp>
        <p:nvSpPr>
          <p:cNvPr id="29" name="TextBox 28"/>
          <p:cNvSpPr txBox="1"/>
          <p:nvPr/>
        </p:nvSpPr>
        <p:spPr>
          <a:xfrm>
            <a:off x="7863840" y="4626864"/>
            <a:ext cx="3566160" cy="658368"/>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Subgroup-stratified validation is a release gate. If performance diverges by subgroup, the weighting changes before deployment, not after.</a:t>
            </a:r>
          </a:p>
        </p:txBody>
      </p:sp>
      <p:sp>
        <p:nvSpPr>
          <p:cNvPr id="30" name="Rounded Rectangle 29"/>
          <p:cNvSpPr/>
          <p:nvPr/>
        </p:nvSpPr>
        <p:spPr>
          <a:xfrm>
            <a:off x="365760" y="5449824"/>
            <a:ext cx="11283696" cy="896112"/>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5216" y="5632704"/>
            <a:ext cx="3063240" cy="566928"/>
          </a:xfrm>
          <a:prstGeom prst="rect">
            <a:avLst/>
          </a:prstGeom>
          <a:noFill/>
        </p:spPr>
        <p:txBody>
          <a:bodyPr wrap="square" lIns="0" rIns="0" tIns="0" bIns="0" anchor="t">
            <a:spAutoFit/>
          </a:bodyPr>
          <a:lstStyle/>
          <a:p>
            <a:pPr algn="l">
              <a:lnSpc>
                <a:spcPct val="112000"/>
              </a:lnSpc>
              <a:spcAft>
                <a:spcPts val="0"/>
              </a:spcAft>
            </a:pPr>
            <a:r>
              <a:rPr sz="1200" b="1">
                <a:solidFill>
                  <a:srgbClr val="1C1C22"/>
                </a:solidFill>
                <a:latin typeface="Arial"/>
              </a:rPr>
              <a:t>Integration stalls the sale</a:t>
            </a:r>
          </a:p>
        </p:txBody>
      </p:sp>
      <p:sp>
        <p:nvSpPr>
          <p:cNvPr id="32" name="Rounded Rectangle 31"/>
          <p:cNvSpPr/>
          <p:nvPr/>
        </p:nvSpPr>
        <p:spPr>
          <a:xfrm>
            <a:off x="3566160" y="5724144"/>
            <a:ext cx="566928" cy="274320"/>
          </a:xfrm>
          <a:prstGeom prst="roundRect">
            <a:avLst>
              <a:gd name="adj" fmla="val 25000"/>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50" b="1">
                <a:solidFill>
                  <a:srgbClr val="FFFFFF"/>
                </a:solidFill>
                <a:latin typeface="Arial"/>
              </a:rPr>
              <a:t>MED</a:t>
            </a:r>
          </a:p>
        </p:txBody>
      </p:sp>
      <p:sp>
        <p:nvSpPr>
          <p:cNvPr id="33" name="TextBox 32"/>
          <p:cNvSpPr txBox="1"/>
          <p:nvPr/>
        </p:nvSpPr>
        <p:spPr>
          <a:xfrm>
            <a:off x="4343400" y="5596128"/>
            <a:ext cx="3337560" cy="658368"/>
          </a:xfrm>
          <a:prstGeom prst="rect">
            <a:avLst/>
          </a:prstGeom>
          <a:noFill/>
        </p:spPr>
        <p:txBody>
          <a:bodyPr wrap="square" lIns="0" rIns="0" tIns="0" bIns="0" anchor="t">
            <a:spAutoFit/>
          </a:bodyPr>
          <a:lstStyle/>
          <a:p>
            <a:pPr algn="l">
              <a:lnSpc>
                <a:spcPct val="112000"/>
              </a:lnSpc>
              <a:spcAft>
                <a:spcPts val="0"/>
              </a:spcAft>
            </a:pPr>
            <a:r>
              <a:rPr sz="1050" b="0">
                <a:solidFill>
                  <a:srgbClr val="5F5F70"/>
                </a:solidFill>
                <a:latin typeface="Arial"/>
              </a:rPr>
              <a:t>Clinical software dies in IT queues more often than in clinical review.</a:t>
            </a:r>
          </a:p>
        </p:txBody>
      </p:sp>
      <p:sp>
        <p:nvSpPr>
          <p:cNvPr id="34" name="TextBox 33"/>
          <p:cNvSpPr txBox="1"/>
          <p:nvPr/>
        </p:nvSpPr>
        <p:spPr>
          <a:xfrm>
            <a:off x="7863840" y="5596128"/>
            <a:ext cx="3566160" cy="658368"/>
          </a:xfrm>
          <a:prstGeom prst="rect">
            <a:avLst/>
          </a:prstGeom>
          <a:noFill/>
        </p:spPr>
        <p:txBody>
          <a:bodyPr wrap="square" lIns="0" rIns="0" tIns="0" bIns="0" anchor="t">
            <a:spAutoFit/>
          </a:bodyPr>
          <a:lstStyle/>
          <a:p>
            <a:pPr algn="l">
              <a:lnSpc>
                <a:spcPct val="112000"/>
              </a:lnSpc>
              <a:spcAft>
                <a:spcPts val="0"/>
              </a:spcAft>
            </a:pPr>
            <a:r>
              <a:rPr sz="1050" b="0">
                <a:solidFill>
                  <a:srgbClr val="1C1C22"/>
                </a:solidFill>
                <a:latin typeface="Arial"/>
              </a:rPr>
              <a:t>Shadow tier requires no write access and no EHR integration. The product proves value before it asks for a schema change.</a:t>
            </a:r>
          </a:p>
        </p:txBody>
      </p:sp>
    </p:spTree>
    <p:extLst>
      <p:ext uri="{BB962C8B-B14F-4D97-AF65-F5344CB8AC3E}">
        <p14:creationId xmlns:p14="http://schemas.microsoft.com/office/powerpoint/2010/main" val="969716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361458" y="386331"/>
            <a:ext cx="11282796" cy="470919"/>
          </a:xfrm>
          <a:solidFill>
            <a:srgbClr val="A100FF"/>
          </a:solidFill>
        </p:spPr>
        <p:txBody>
          <a:bodyPr>
            <a:normAutofit/>
          </a:bodyPr>
          <a:lstStyle/>
          <a:p>
            <a:r>
              <a:rPr lang="en-IN" sz="2000" b="1" dirty="0">
                <a:solidFill>
                  <a:schemeClr val="bg1"/>
                </a:solidFill>
                <a:latin typeface="Graphik" panose="020B0503030202060203" pitchFamily="34" charset="0"/>
                <a:cs typeface="Arial" panose="020B0604020202020204" pitchFamily="34" charset="0"/>
              </a:rPr>
              <a:t>The ask</a:t>
            </a:r>
            <a:endParaRPr lang="en-IN" sz="2000" dirty="0">
              <a:solidFill>
                <a:schemeClr val="bg1"/>
              </a:solidFill>
              <a:latin typeface="Graphik" panose="020B0503030202060203" pitchFamily="34" charset="0"/>
              <a:cs typeface="Arial" panose="020B0604020202020204" pitchFamily="34" charset="0"/>
            </a:endParaRPr>
          </a:p>
        </p:txBody>
      </p:sp>
      <p:sp>
        <p:nvSpPr>
          <p:cNvPr id="5" name="Rounded Rectangle 4"/>
          <p:cNvSpPr/>
          <p:nvPr/>
        </p:nvSpPr>
        <p:spPr>
          <a:xfrm>
            <a:off x="365760" y="1115568"/>
            <a:ext cx="11283696" cy="960120"/>
          </a:xfrm>
          <a:prstGeom prst="roundRect">
            <a:avLst>
              <a:gd name="adj" fmla="val 5000"/>
            </a:avLst>
          </a:prstGeom>
          <a:solidFill>
            <a:srgbClr val="F5EBFF"/>
          </a:solidFill>
          <a:ln w="127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5760" y="1335024"/>
            <a:ext cx="11283696" cy="594360"/>
          </a:xfrm>
          <a:prstGeom prst="rect">
            <a:avLst/>
          </a:prstGeom>
          <a:noFill/>
        </p:spPr>
        <p:txBody>
          <a:bodyPr wrap="square" lIns="0" rIns="0" tIns="0" bIns="0" anchor="t">
            <a:spAutoFit/>
          </a:bodyPr>
          <a:lstStyle/>
          <a:p>
            <a:pPr algn="ctr">
              <a:lnSpc>
                <a:spcPct val="112000"/>
              </a:lnSpc>
              <a:spcAft>
                <a:spcPts val="0"/>
              </a:spcAft>
            </a:pPr>
            <a:r>
              <a:rPr sz="2100" b="1">
                <a:solidFill>
                  <a:srgbClr val="6A00A8"/>
                </a:solidFill>
                <a:latin typeface="Arial"/>
              </a:rPr>
              <a:t>One emergency department, running us in shadow mode, for ninety days.</a:t>
            </a:r>
          </a:p>
        </p:txBody>
      </p:sp>
      <p:sp>
        <p:nvSpPr>
          <p:cNvPr id="7" name="Rounded Rectangle 6"/>
          <p:cNvSpPr/>
          <p:nvPr/>
        </p:nvSpPr>
        <p:spPr>
          <a:xfrm>
            <a:off x="365760" y="2286000"/>
            <a:ext cx="3611880" cy="2834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1792" y="2505456"/>
            <a:ext cx="3108960" cy="310896"/>
          </a:xfrm>
          <a:prstGeom prst="rect">
            <a:avLst/>
          </a:prstGeom>
          <a:noFill/>
        </p:spPr>
        <p:txBody>
          <a:bodyPr wrap="square" lIns="0" rIns="0" tIns="0" bIns="0" anchor="t">
            <a:spAutoFit/>
          </a:bodyPr>
          <a:lstStyle/>
          <a:p>
            <a:pPr algn="l">
              <a:lnSpc>
                <a:spcPct val="112000"/>
              </a:lnSpc>
              <a:spcAft>
                <a:spcPts val="0"/>
              </a:spcAft>
            </a:pPr>
            <a:r>
              <a:rPr sz="1400" b="1">
                <a:solidFill>
                  <a:srgbClr val="A100FF"/>
                </a:solidFill>
                <a:latin typeface="Arial"/>
              </a:rPr>
              <a:t>What we need</a:t>
            </a:r>
          </a:p>
        </p:txBody>
      </p:sp>
      <p:sp>
        <p:nvSpPr>
          <p:cNvPr id="9" name="Oval 8"/>
          <p:cNvSpPr/>
          <p:nvPr/>
        </p:nvSpPr>
        <p:spPr>
          <a:xfrm>
            <a:off x="640080" y="3035807"/>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0" name="TextBox 9"/>
          <p:cNvSpPr txBox="1"/>
          <p:nvPr/>
        </p:nvSpPr>
        <p:spPr>
          <a:xfrm>
            <a:off x="877824" y="2990087"/>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A tertiary ED with a formal triage protocol</a:t>
            </a:r>
          </a:p>
        </p:txBody>
      </p:sp>
      <p:sp>
        <p:nvSpPr>
          <p:cNvPr id="11" name="Oval 10"/>
          <p:cNvSpPr/>
          <p:nvPr/>
        </p:nvSpPr>
        <p:spPr>
          <a:xfrm>
            <a:off x="640080" y="3566159"/>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2" name="TextBox 11"/>
          <p:cNvSpPr txBox="1"/>
          <p:nvPr/>
        </p:nvSpPr>
        <p:spPr>
          <a:xfrm>
            <a:off x="877824" y="3520439"/>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De-identified historical encounters for retrospective validation</a:t>
            </a:r>
          </a:p>
        </p:txBody>
      </p:sp>
      <p:sp>
        <p:nvSpPr>
          <p:cNvPr id="13" name="Oval 12"/>
          <p:cNvSpPr/>
          <p:nvPr/>
        </p:nvSpPr>
        <p:spPr>
          <a:xfrm>
            <a:off x="640080" y="4096511"/>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4" name="TextBox 13"/>
          <p:cNvSpPr txBox="1"/>
          <p:nvPr/>
        </p:nvSpPr>
        <p:spPr>
          <a:xfrm>
            <a:off x="877824" y="4050791"/>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Two hours a week of an ED clinician's time</a:t>
            </a:r>
          </a:p>
        </p:txBody>
      </p:sp>
      <p:sp>
        <p:nvSpPr>
          <p:cNvPr id="15" name="Oval 14"/>
          <p:cNvSpPr/>
          <p:nvPr/>
        </p:nvSpPr>
        <p:spPr>
          <a:xfrm>
            <a:off x="640080" y="4626864"/>
            <a:ext cx="100584" cy="10058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A100FF"/>
                </a:solidFill>
                <a:latin typeface="Arial"/>
              </a:rPr>
              <a:t/>
            </a:r>
          </a:p>
        </p:txBody>
      </p:sp>
      <p:sp>
        <p:nvSpPr>
          <p:cNvPr id="16" name="TextBox 15"/>
          <p:cNvSpPr txBox="1"/>
          <p:nvPr/>
        </p:nvSpPr>
        <p:spPr>
          <a:xfrm>
            <a:off x="877824" y="4581144"/>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Ethics committee sponsorship</a:t>
            </a:r>
          </a:p>
        </p:txBody>
      </p:sp>
      <p:sp>
        <p:nvSpPr>
          <p:cNvPr id="17" name="Rounded Rectangle 16"/>
          <p:cNvSpPr/>
          <p:nvPr/>
        </p:nvSpPr>
        <p:spPr>
          <a:xfrm>
            <a:off x="4206240" y="2286000"/>
            <a:ext cx="3611880" cy="2834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62272" y="2505456"/>
            <a:ext cx="3108960" cy="310896"/>
          </a:xfrm>
          <a:prstGeom prst="rect">
            <a:avLst/>
          </a:prstGeom>
          <a:noFill/>
        </p:spPr>
        <p:txBody>
          <a:bodyPr wrap="square" lIns="0" rIns="0" tIns="0" bIns="0" anchor="t">
            <a:spAutoFit/>
          </a:bodyPr>
          <a:lstStyle/>
          <a:p>
            <a:pPr algn="l">
              <a:lnSpc>
                <a:spcPct val="112000"/>
              </a:lnSpc>
              <a:spcAft>
                <a:spcPts val="0"/>
              </a:spcAft>
            </a:pPr>
            <a:r>
              <a:rPr sz="1400" b="1">
                <a:solidFill>
                  <a:srgbClr val="6A00A8"/>
                </a:solidFill>
                <a:latin typeface="Arial"/>
              </a:rPr>
              <a:t>What we bring</a:t>
            </a:r>
          </a:p>
        </p:txBody>
      </p:sp>
      <p:sp>
        <p:nvSpPr>
          <p:cNvPr id="19" name="Oval 18"/>
          <p:cNvSpPr/>
          <p:nvPr/>
        </p:nvSpPr>
        <p:spPr>
          <a:xfrm>
            <a:off x="4480560" y="3035807"/>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0" name="TextBox 19"/>
          <p:cNvSpPr txBox="1"/>
          <p:nvPr/>
        </p:nvSpPr>
        <p:spPr>
          <a:xfrm>
            <a:off x="4718304" y="2990087"/>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The full system deployed at our cost</a:t>
            </a:r>
          </a:p>
        </p:txBody>
      </p:sp>
      <p:sp>
        <p:nvSpPr>
          <p:cNvPr id="21" name="Oval 20"/>
          <p:cNvSpPr/>
          <p:nvPr/>
        </p:nvSpPr>
        <p:spPr>
          <a:xfrm>
            <a:off x="4480560" y="3566159"/>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2" name="TextBox 21"/>
          <p:cNvSpPr txBox="1"/>
          <p:nvPr/>
        </p:nvSpPr>
        <p:spPr>
          <a:xfrm>
            <a:off x="4718304" y="3520439"/>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Corrected, published benchmark before day one</a:t>
            </a:r>
          </a:p>
        </p:txBody>
      </p:sp>
      <p:sp>
        <p:nvSpPr>
          <p:cNvPr id="23" name="Oval 22"/>
          <p:cNvSpPr/>
          <p:nvPr/>
        </p:nvSpPr>
        <p:spPr>
          <a:xfrm>
            <a:off x="4480560" y="4096511"/>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4" name="TextBox 23"/>
          <p:cNvSpPr txBox="1"/>
          <p:nvPr/>
        </p:nvSpPr>
        <p:spPr>
          <a:xfrm>
            <a:off x="4718304" y="4050791"/>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Site-specific subgroup performance report</a:t>
            </a:r>
          </a:p>
        </p:txBody>
      </p:sp>
      <p:sp>
        <p:nvSpPr>
          <p:cNvPr id="25" name="Oval 24"/>
          <p:cNvSpPr/>
          <p:nvPr/>
        </p:nvSpPr>
        <p:spPr>
          <a:xfrm>
            <a:off x="4480560" y="4626864"/>
            <a:ext cx="100584" cy="100584"/>
          </a:xfrm>
          <a:prstGeom prst="ellipse">
            <a:avLst/>
          </a:prstGeom>
          <a:solidFill>
            <a:srgbClr val="6A00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6A00A8"/>
                </a:solidFill>
                <a:latin typeface="Arial"/>
              </a:rPr>
              <a:t/>
            </a:r>
          </a:p>
        </p:txBody>
      </p:sp>
      <p:sp>
        <p:nvSpPr>
          <p:cNvPr id="26" name="TextBox 25"/>
          <p:cNvSpPr txBox="1"/>
          <p:nvPr/>
        </p:nvSpPr>
        <p:spPr>
          <a:xfrm>
            <a:off x="4718304" y="4581144"/>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No workflow change and no write access</a:t>
            </a:r>
          </a:p>
        </p:txBody>
      </p:sp>
      <p:sp>
        <p:nvSpPr>
          <p:cNvPr id="27" name="Rounded Rectangle 26"/>
          <p:cNvSpPr/>
          <p:nvPr/>
        </p:nvSpPr>
        <p:spPr>
          <a:xfrm>
            <a:off x="8046720" y="2286000"/>
            <a:ext cx="3611880" cy="283464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02752" y="2505456"/>
            <a:ext cx="3108960" cy="310896"/>
          </a:xfrm>
          <a:prstGeom prst="rect">
            <a:avLst/>
          </a:prstGeom>
          <a:noFill/>
        </p:spPr>
        <p:txBody>
          <a:bodyPr wrap="square" lIns="0" rIns="0" tIns="0" bIns="0" anchor="t">
            <a:spAutoFit/>
          </a:bodyPr>
          <a:lstStyle/>
          <a:p>
            <a:pPr algn="l">
              <a:lnSpc>
                <a:spcPct val="112000"/>
              </a:lnSpc>
              <a:spcAft>
                <a:spcPts val="0"/>
              </a:spcAft>
            </a:pPr>
            <a:r>
              <a:rPr sz="1400" b="1">
                <a:solidFill>
                  <a:srgbClr val="007D3C"/>
                </a:solidFill>
                <a:latin typeface="Arial"/>
              </a:rPr>
              <a:t>How we are judged</a:t>
            </a:r>
          </a:p>
        </p:txBody>
      </p:sp>
      <p:sp>
        <p:nvSpPr>
          <p:cNvPr id="29" name="Oval 28"/>
          <p:cNvSpPr/>
          <p:nvPr/>
        </p:nvSpPr>
        <p:spPr>
          <a:xfrm>
            <a:off x="8321040" y="3035807"/>
            <a:ext cx="100584" cy="100584"/>
          </a:xfrm>
          <a:prstGeom prst="ellipse">
            <a:avLst/>
          </a:prstGeom>
          <a:solidFill>
            <a:srgbClr val="007D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007D3C"/>
                </a:solidFill>
                <a:latin typeface="Arial"/>
              </a:rPr>
              <a:t/>
            </a:r>
          </a:p>
        </p:txBody>
      </p:sp>
      <p:sp>
        <p:nvSpPr>
          <p:cNvPr id="30" name="TextBox 29"/>
          <p:cNvSpPr txBox="1"/>
          <p:nvPr/>
        </p:nvSpPr>
        <p:spPr>
          <a:xfrm>
            <a:off x="8558784" y="2990087"/>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Under-triage rate against adjudicated outcomes</a:t>
            </a:r>
          </a:p>
        </p:txBody>
      </p:sp>
      <p:sp>
        <p:nvSpPr>
          <p:cNvPr id="31" name="Oval 30"/>
          <p:cNvSpPr/>
          <p:nvPr/>
        </p:nvSpPr>
        <p:spPr>
          <a:xfrm>
            <a:off x="8321040" y="3566159"/>
            <a:ext cx="100584" cy="100584"/>
          </a:xfrm>
          <a:prstGeom prst="ellipse">
            <a:avLst/>
          </a:prstGeom>
          <a:solidFill>
            <a:srgbClr val="007D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007D3C"/>
                </a:solidFill>
                <a:latin typeface="Arial"/>
              </a:rPr>
              <a:t/>
            </a:r>
          </a:p>
        </p:txBody>
      </p:sp>
      <p:sp>
        <p:nvSpPr>
          <p:cNvPr id="32" name="TextBox 31"/>
          <p:cNvSpPr txBox="1"/>
          <p:nvPr/>
        </p:nvSpPr>
        <p:spPr>
          <a:xfrm>
            <a:off x="8558784" y="3520439"/>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Over-triage rate and capacity cost</a:t>
            </a:r>
          </a:p>
        </p:txBody>
      </p:sp>
      <p:sp>
        <p:nvSpPr>
          <p:cNvPr id="33" name="Oval 32"/>
          <p:cNvSpPr/>
          <p:nvPr/>
        </p:nvSpPr>
        <p:spPr>
          <a:xfrm>
            <a:off x="8321040" y="4096511"/>
            <a:ext cx="100584" cy="100584"/>
          </a:xfrm>
          <a:prstGeom prst="ellipse">
            <a:avLst/>
          </a:prstGeom>
          <a:solidFill>
            <a:srgbClr val="007D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007D3C"/>
                </a:solidFill>
                <a:latin typeface="Arial"/>
              </a:rPr>
              <a:t/>
            </a:r>
          </a:p>
        </p:txBody>
      </p:sp>
      <p:sp>
        <p:nvSpPr>
          <p:cNvPr id="34" name="TextBox 33"/>
          <p:cNvSpPr txBox="1"/>
          <p:nvPr/>
        </p:nvSpPr>
        <p:spPr>
          <a:xfrm>
            <a:off x="8558784" y="4050791"/>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Calibration by age subgroup</a:t>
            </a:r>
          </a:p>
        </p:txBody>
      </p:sp>
      <p:sp>
        <p:nvSpPr>
          <p:cNvPr id="35" name="Oval 34"/>
          <p:cNvSpPr/>
          <p:nvPr/>
        </p:nvSpPr>
        <p:spPr>
          <a:xfrm>
            <a:off x="8321040" y="4626864"/>
            <a:ext cx="100584" cy="100584"/>
          </a:xfrm>
          <a:prstGeom prst="ellipse">
            <a:avLst/>
          </a:prstGeom>
          <a:solidFill>
            <a:srgbClr val="007D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a:solidFill>
                  <a:srgbClr val="007D3C"/>
                </a:solidFill>
                <a:latin typeface="Arial"/>
              </a:rPr>
              <a:t/>
            </a:r>
          </a:p>
        </p:txBody>
      </p:sp>
      <p:sp>
        <p:nvSpPr>
          <p:cNvPr id="36" name="TextBox 35"/>
          <p:cNvSpPr txBox="1"/>
          <p:nvPr/>
        </p:nvSpPr>
        <p:spPr>
          <a:xfrm>
            <a:off x="8558784" y="4581144"/>
            <a:ext cx="2852928" cy="566928"/>
          </a:xfrm>
          <a:prstGeom prst="rect">
            <a:avLst/>
          </a:prstGeom>
          <a:noFill/>
        </p:spPr>
        <p:txBody>
          <a:bodyPr wrap="square" lIns="0" rIns="0" tIns="0" bIns="0" anchor="t">
            <a:spAutoFit/>
          </a:bodyPr>
          <a:lstStyle/>
          <a:p>
            <a:pPr algn="l">
              <a:lnSpc>
                <a:spcPct val="112000"/>
              </a:lnSpc>
              <a:spcAft>
                <a:spcPts val="0"/>
              </a:spcAft>
            </a:pPr>
            <a:r>
              <a:rPr sz="1150" b="0">
                <a:solidFill>
                  <a:srgbClr val="1C1C22"/>
                </a:solidFill>
                <a:latin typeface="Arial"/>
              </a:rPr>
              <a:t>Clinician trust: downgrade rate and reasons</a:t>
            </a:r>
          </a:p>
        </p:txBody>
      </p:sp>
      <p:sp>
        <p:nvSpPr>
          <p:cNvPr id="37" name="Rounded Rectangle 36"/>
          <p:cNvSpPr/>
          <p:nvPr/>
        </p:nvSpPr>
        <p:spPr>
          <a:xfrm>
            <a:off x="365760" y="5303520"/>
            <a:ext cx="11283696" cy="914400"/>
          </a:xfrm>
          <a:prstGeom prst="roundRect">
            <a:avLst>
              <a:gd name="adj" fmla="val 5000"/>
            </a:avLst>
          </a:prstGeom>
          <a:solidFill>
            <a:srgbClr val="FBF7FF"/>
          </a:solidFill>
          <a:ln w="12700">
            <a:solidFill>
              <a:srgbClr val="E3D2F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468112"/>
            <a:ext cx="10698480" cy="640080"/>
          </a:xfrm>
          <a:prstGeom prst="rect">
            <a:avLst/>
          </a:prstGeom>
          <a:noFill/>
        </p:spPr>
        <p:txBody>
          <a:bodyPr wrap="square" lIns="0" rIns="0" tIns="0" bIns="0" anchor="t">
            <a:spAutoFit/>
          </a:bodyPr>
          <a:lstStyle/>
          <a:p>
            <a:pPr algn="l">
              <a:lnSpc>
                <a:spcPct val="112000"/>
              </a:lnSpc>
              <a:spcAft>
                <a:spcPts val="300"/>
              </a:spcAft>
            </a:pPr>
            <a:r>
              <a:rPr sz="1250" b="1">
                <a:solidFill>
                  <a:srgbClr val="6A00A8"/>
                </a:solidFill>
                <a:latin typeface="Arial"/>
              </a:rPr>
              <a:t>The commitment we are making</a:t>
            </a:r>
          </a:p>
          <a:p>
            <a:pPr algn="l">
              <a:lnSpc>
                <a:spcPct val="112000"/>
              </a:lnSpc>
              <a:spcAft>
                <a:spcPts val="0"/>
              </a:spcAft>
            </a:pPr>
            <a:r>
              <a:rPr sz="1200" b="0">
                <a:solidFill>
                  <a:srgbClr val="1C1C22"/>
                </a:solidFill>
                <a:latin typeface="Arial"/>
              </a:rPr>
              <a:t>If the corrected benchmark does not hold up, we will say so before anyone deploys it. A triage system that overstates its own safety is worse than no triage system, because it displaces the vigilance it was supposed to support. We would rather ship a smaller claim that survives.</a:t>
            </a:r>
          </a:p>
        </p:txBody>
      </p:sp>
    </p:spTree>
    <p:extLst>
      <p:ext uri="{BB962C8B-B14F-4D97-AF65-F5344CB8AC3E}">
        <p14:creationId xmlns:p14="http://schemas.microsoft.com/office/powerpoint/2010/main" val="969716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10</TotalTime>
  <Words>118</Words>
  <Application>Microsoft Office PowerPoint</Application>
  <PresentationFormat>Widescreen</PresentationFormat>
  <Paragraphs>29</Paragraphs>
  <Slides>7</Slides>
  <Notes>1</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7</vt:i4>
      </vt:variant>
    </vt:vector>
  </HeadingPairs>
  <TitlesOfParts>
    <vt:vector size="25"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Accenture 2025</vt:lpstr>
      <vt:lpstr>1_Titles</vt:lpstr>
      <vt:lpstr>Titles</vt:lpstr>
      <vt:lpstr>1_Office Theme</vt:lpstr>
      <vt:lpstr>1_Accenture 2025</vt:lpstr>
      <vt:lpstr>PowerPoint Presentation</vt:lpstr>
      <vt:lpstr>Instructions Reference slide– Remove before submission</vt:lpstr>
      <vt:lpstr>Team details</vt:lpstr>
      <vt:lpstr>Describe the problem statement (200 words)</vt:lpstr>
      <vt:lpstr>Proposed solution (200 words)</vt:lpstr>
      <vt:lpstr>Video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Gupta, Sumit</cp:lastModifiedBy>
  <cp:revision>3</cp:revision>
  <dcterms:created xsi:type="dcterms:W3CDTF">2026-07-24T04:09:52Z</dcterms:created>
  <dcterms:modified xsi:type="dcterms:W3CDTF">2026-08-12T11:52:50Z</dcterms:modified>
</cp:coreProperties>
</file>